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72" r:id="rId9"/>
    <p:sldId id="264" r:id="rId10"/>
    <p:sldId id="270" r:id="rId11"/>
    <p:sldId id="271" r:id="rId12"/>
    <p:sldId id="266" r:id="rId13"/>
    <p:sldId id="267"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05" d="100"/>
          <a:sy n="105" d="100"/>
        </p:scale>
        <p:origin x="798"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25-May-26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25-May-26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25-May-26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25-May-26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25-May-26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25-May-26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25-May-26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25-May-26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25-May-26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25-May-26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25-May-26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25-May-26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416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365760" cy="685800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14400" y="1463040"/>
            <a:ext cx="10515600" cy="457200"/>
          </a:xfrm>
          <a:prstGeom prst="rect">
            <a:avLst/>
          </a:prstGeom>
          <a:noFill/>
        </p:spPr>
        <p:txBody>
          <a:bodyPr wrap="square" lIns="0" tIns="0" rIns="0" bIns="0" anchor="t">
            <a:spAutoFit/>
          </a:bodyPr>
          <a:lstStyle/>
          <a:p>
            <a:pPr algn="l"/>
            <a:r>
              <a:rPr sz="1600" b="1" i="0">
                <a:solidFill>
                  <a:srgbClr val="F5A623"/>
                </a:solidFill>
                <a:latin typeface="Calibri"/>
              </a:rPr>
              <a:t>INVESTIGATION OF DEEP LEARNING METHODS FOR</a:t>
            </a:r>
          </a:p>
        </p:txBody>
      </p:sp>
      <p:sp>
        <p:nvSpPr>
          <p:cNvPr id="5" name="TextBox 4"/>
          <p:cNvSpPr txBox="1"/>
          <p:nvPr/>
        </p:nvSpPr>
        <p:spPr>
          <a:xfrm>
            <a:off x="914400" y="1920240"/>
            <a:ext cx="10515600" cy="1097280"/>
          </a:xfrm>
          <a:prstGeom prst="rect">
            <a:avLst/>
          </a:prstGeom>
          <a:noFill/>
        </p:spPr>
        <p:txBody>
          <a:bodyPr wrap="square" lIns="0" tIns="0" rIns="0" bIns="0" anchor="t">
            <a:spAutoFit/>
          </a:bodyPr>
          <a:lstStyle/>
          <a:p>
            <a:pPr algn="l"/>
            <a:r>
              <a:rPr sz="4600" b="1" i="0" dirty="0">
                <a:solidFill>
                  <a:srgbClr val="F2F2F2"/>
                </a:solidFill>
                <a:latin typeface="Calibri"/>
              </a:rPr>
              <a:t>Bee Behavior Recognition</a:t>
            </a:r>
          </a:p>
        </p:txBody>
      </p:sp>
      <p:sp>
        <p:nvSpPr>
          <p:cNvPr id="6" name="Rectangle 5"/>
          <p:cNvSpPr/>
          <p:nvPr/>
        </p:nvSpPr>
        <p:spPr>
          <a:xfrm>
            <a:off x="914400" y="3200400"/>
            <a:ext cx="1828800" cy="36576"/>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3383280"/>
            <a:ext cx="10515600" cy="365760"/>
          </a:xfrm>
          <a:prstGeom prst="rect">
            <a:avLst/>
          </a:prstGeom>
          <a:noFill/>
        </p:spPr>
        <p:txBody>
          <a:bodyPr wrap="square" lIns="0" tIns="0" rIns="0" bIns="0" anchor="t">
            <a:spAutoFit/>
          </a:bodyPr>
          <a:lstStyle/>
          <a:p>
            <a:pPr algn="l"/>
            <a:r>
              <a:rPr sz="1500" b="0" i="1" dirty="0">
                <a:solidFill>
                  <a:srgbClr val="A8ABB3"/>
                </a:solidFill>
                <a:latin typeface="Calibri"/>
              </a:rPr>
              <a:t>A two-stage computer vision pipeline:</a:t>
            </a:r>
          </a:p>
        </p:txBody>
      </p:sp>
      <p:sp>
        <p:nvSpPr>
          <p:cNvPr id="8" name="TextBox 7"/>
          <p:cNvSpPr txBox="1"/>
          <p:nvPr/>
        </p:nvSpPr>
        <p:spPr>
          <a:xfrm>
            <a:off x="914400" y="3749039"/>
            <a:ext cx="10515600" cy="246221"/>
          </a:xfrm>
          <a:prstGeom prst="rect">
            <a:avLst/>
          </a:prstGeom>
          <a:noFill/>
        </p:spPr>
        <p:txBody>
          <a:bodyPr wrap="square" lIns="0" tIns="0" rIns="0" bIns="0" anchor="t">
            <a:spAutoFit/>
          </a:bodyPr>
          <a:lstStyle/>
          <a:p>
            <a:pPr algn="l"/>
            <a:r>
              <a:rPr sz="1600" b="1" i="0" dirty="0">
                <a:solidFill>
                  <a:srgbClr val="F2F2F2"/>
                </a:solidFill>
                <a:latin typeface="Calibri"/>
              </a:rPr>
              <a:t>YOLOv11 + SAHI  →  </a:t>
            </a:r>
            <a:r>
              <a:rPr sz="1600" b="1" i="0" dirty="0" err="1">
                <a:solidFill>
                  <a:srgbClr val="F2F2F2"/>
                </a:solidFill>
                <a:latin typeface="Calibri"/>
              </a:rPr>
              <a:t>ByteTracker</a:t>
            </a:r>
            <a:r>
              <a:rPr sz="1600" b="1" i="0" dirty="0">
                <a:solidFill>
                  <a:srgbClr val="F2F2F2"/>
                </a:solidFill>
                <a:latin typeface="Calibri"/>
              </a:rPr>
              <a:t>  →  DINOv2  →  Temporal Transformer</a:t>
            </a:r>
          </a:p>
        </p:txBody>
      </p:sp>
      <p:sp>
        <p:nvSpPr>
          <p:cNvPr id="9" name="TextBox 8"/>
          <p:cNvSpPr txBox="1"/>
          <p:nvPr/>
        </p:nvSpPr>
        <p:spPr>
          <a:xfrm>
            <a:off x="548640" y="6211670"/>
            <a:ext cx="10515600" cy="492443"/>
          </a:xfrm>
          <a:prstGeom prst="rect">
            <a:avLst/>
          </a:prstGeom>
          <a:noFill/>
        </p:spPr>
        <p:txBody>
          <a:bodyPr wrap="square" lIns="0" tIns="0" rIns="0" bIns="0" anchor="t">
            <a:spAutoFit/>
          </a:bodyPr>
          <a:lstStyle/>
          <a:p>
            <a:pPr algn="l"/>
            <a:r>
              <a:rPr sz="1600" b="0" i="0" dirty="0">
                <a:solidFill>
                  <a:srgbClr val="A8ABB3"/>
                </a:solidFill>
                <a:latin typeface="Calibri"/>
              </a:rPr>
              <a:t>Master's Thesis Defense</a:t>
            </a:r>
            <a:endParaRPr lang="en-US" sz="1600" b="0" i="0" dirty="0">
              <a:solidFill>
                <a:srgbClr val="A8ABB3"/>
              </a:solidFill>
              <a:latin typeface="Calibri"/>
            </a:endParaRPr>
          </a:p>
          <a:p>
            <a:r>
              <a:rPr lang="en-US" sz="1600" dirty="0">
                <a:solidFill>
                  <a:srgbClr val="6F737C"/>
                </a:solidFill>
              </a:rPr>
              <a:t>Vilnius Gediminas Technical University   ·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416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 name="Rectangle 2"/>
          <p:cNvSpPr/>
          <p:nvPr/>
        </p:nvSpPr>
        <p:spPr>
          <a:xfrm>
            <a:off x="457200" y="411480"/>
            <a:ext cx="320040" cy="54864"/>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502920"/>
            <a:ext cx="11247120" cy="430887"/>
          </a:xfrm>
          <a:prstGeom prst="rect">
            <a:avLst/>
          </a:prstGeom>
          <a:noFill/>
        </p:spPr>
        <p:txBody>
          <a:bodyPr wrap="square" lIns="0" tIns="0" rIns="0" bIns="0" anchor="t">
            <a:spAutoFit/>
          </a:bodyPr>
          <a:lstStyle/>
          <a:p>
            <a:pPr algn="l"/>
            <a:r>
              <a:rPr lang="en-US" sz="2800" b="1" i="0" dirty="0">
                <a:solidFill>
                  <a:srgbClr val="F2F2F2"/>
                </a:solidFill>
                <a:latin typeface="Calibri"/>
              </a:rPr>
              <a:t>MOTIVATION</a:t>
            </a:r>
            <a:r>
              <a:rPr sz="2800" b="1" i="0" dirty="0">
                <a:solidFill>
                  <a:srgbClr val="F2F2F2"/>
                </a:solidFill>
                <a:latin typeface="Calibri"/>
              </a:rPr>
              <a:t> &amp; </a:t>
            </a:r>
            <a:r>
              <a:rPr lang="en-US" sz="2800" b="1" i="0" dirty="0">
                <a:solidFill>
                  <a:srgbClr val="F2F2F2"/>
                </a:solidFill>
                <a:latin typeface="Calibri"/>
              </a:rPr>
              <a:t>OBJECTIVE</a:t>
            </a:r>
            <a:endParaRPr sz="2800" b="1" i="0" dirty="0">
              <a:solidFill>
                <a:srgbClr val="F2F2F2"/>
              </a:solidFill>
              <a:latin typeface="Calibri"/>
            </a:endParaRPr>
          </a:p>
        </p:txBody>
      </p:sp>
      <p:sp>
        <p:nvSpPr>
          <p:cNvPr id="8" name="Rounded Rectangle 7"/>
          <p:cNvSpPr/>
          <p:nvPr/>
        </p:nvSpPr>
        <p:spPr>
          <a:xfrm>
            <a:off x="441960" y="1045116"/>
            <a:ext cx="11173968" cy="5309963"/>
          </a:xfrm>
          <a:prstGeom prst="roundRect">
            <a:avLst>
              <a:gd name="adj" fmla="val 5000"/>
            </a:avLst>
          </a:prstGeom>
          <a:solidFill>
            <a:srgbClr val="1F2229"/>
          </a:solidFill>
          <a:ln w="952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b="1" dirty="0">
              <a:solidFill>
                <a:srgbClr val="F5A623"/>
              </a:solidFill>
            </a:endParaRPr>
          </a:p>
        </p:txBody>
      </p:sp>
      <p:sp>
        <p:nvSpPr>
          <p:cNvPr id="9" name="TextBox 8"/>
          <p:cNvSpPr txBox="1"/>
          <p:nvPr/>
        </p:nvSpPr>
        <p:spPr>
          <a:xfrm>
            <a:off x="617220" y="1256896"/>
            <a:ext cx="10838688" cy="1969770"/>
          </a:xfrm>
          <a:prstGeom prst="rect">
            <a:avLst/>
          </a:prstGeom>
          <a:noFill/>
        </p:spPr>
        <p:txBody>
          <a:bodyPr wrap="square" lIns="0" tIns="0" rIns="0" bIns="0" anchor="t">
            <a:spAutoFit/>
          </a:bodyPr>
          <a:lstStyle/>
          <a:p>
            <a:pPr>
              <a:lnSpc>
                <a:spcPct val="130000"/>
              </a:lnSpc>
            </a:pPr>
            <a:r>
              <a:rPr lang="en-US" sz="2000" b="1" dirty="0">
                <a:solidFill>
                  <a:srgbClr val="F5A623"/>
                </a:solidFill>
              </a:rPr>
              <a:t>PROBLEM</a:t>
            </a:r>
          </a:p>
          <a:p>
            <a:pPr>
              <a:lnSpc>
                <a:spcPct val="150000"/>
              </a:lnSpc>
            </a:pPr>
            <a:endParaRPr lang="en-US" sz="1200" b="1" dirty="0">
              <a:solidFill>
                <a:srgbClr val="F5A623"/>
              </a:solidFill>
            </a:endParaRPr>
          </a:p>
          <a:p>
            <a:pPr>
              <a:lnSpc>
                <a:spcPct val="150000"/>
              </a:lnSpc>
            </a:pPr>
            <a:r>
              <a:rPr lang="en-US" sz="1600" b="1" dirty="0">
                <a:solidFill>
                  <a:srgbClr val="F5A623"/>
                </a:solidFill>
              </a:rPr>
              <a:t>▸ </a:t>
            </a:r>
            <a:r>
              <a:rPr lang="en-US" sz="1600" dirty="0">
                <a:solidFill>
                  <a:srgbClr val="F2F2F2"/>
                </a:solidFill>
              </a:rPr>
              <a:t>Honeybees pollinate ~1/3 of food supply; colony health matters.</a:t>
            </a:r>
          </a:p>
          <a:p>
            <a:pPr>
              <a:lnSpc>
                <a:spcPct val="150000"/>
              </a:lnSpc>
            </a:pPr>
            <a:r>
              <a:rPr lang="en-US" sz="1600" b="1" dirty="0">
                <a:solidFill>
                  <a:srgbClr val="F5A623"/>
                </a:solidFill>
              </a:rPr>
              <a:t>▸ </a:t>
            </a:r>
            <a:r>
              <a:rPr lang="en-US" sz="1600" dirty="0">
                <a:solidFill>
                  <a:srgbClr val="F2F2F2"/>
                </a:solidFill>
              </a:rPr>
              <a:t>Hive-entrance video offers non-invasive monitoring.</a:t>
            </a:r>
          </a:p>
          <a:p>
            <a:pPr>
              <a:lnSpc>
                <a:spcPct val="150000"/>
              </a:lnSpc>
            </a:pPr>
            <a:r>
              <a:rPr lang="en-US" sz="1600" b="1" dirty="0">
                <a:solidFill>
                  <a:srgbClr val="F5A623"/>
                </a:solidFill>
              </a:rPr>
              <a:t>▸ </a:t>
            </a:r>
            <a:r>
              <a:rPr lang="en-US" sz="1600" dirty="0">
                <a:solidFill>
                  <a:srgbClr val="F2F2F2"/>
                </a:solidFill>
              </a:rPr>
              <a:t>Rules don't generalize and can't recognize appearance-based behaviors like trophallaxis.</a:t>
            </a:r>
          </a:p>
          <a:p>
            <a:pPr algn="l"/>
            <a:endParaRPr lang="en-US" sz="1200" b="1" i="0" dirty="0">
              <a:solidFill>
                <a:srgbClr val="F5A623"/>
              </a:solidFill>
              <a:latin typeface="Calibri"/>
            </a:endParaRPr>
          </a:p>
        </p:txBody>
      </p:sp>
      <p:sp>
        <p:nvSpPr>
          <p:cNvPr id="10" name="TextBox 9"/>
          <p:cNvSpPr txBox="1"/>
          <p:nvPr/>
        </p:nvSpPr>
        <p:spPr>
          <a:xfrm>
            <a:off x="617220" y="3687439"/>
            <a:ext cx="10515600" cy="2422394"/>
          </a:xfrm>
          <a:prstGeom prst="rect">
            <a:avLst/>
          </a:prstGeom>
          <a:noFill/>
        </p:spPr>
        <p:txBody>
          <a:bodyPr wrap="square" lIns="0" tIns="0" rIns="0" bIns="0" anchor="t">
            <a:spAutoFit/>
          </a:bodyPr>
          <a:lstStyle/>
          <a:p>
            <a:r>
              <a:rPr lang="en-US" sz="2000" b="1" dirty="0">
                <a:solidFill>
                  <a:srgbClr val="F5A623"/>
                </a:solidFill>
              </a:rPr>
              <a:t>AIM</a:t>
            </a:r>
          </a:p>
          <a:p>
            <a:endParaRPr lang="en-US" sz="2000" b="1" dirty="0">
              <a:solidFill>
                <a:srgbClr val="F5A623"/>
              </a:solidFill>
            </a:endParaRPr>
          </a:p>
          <a:p>
            <a:pPr>
              <a:lnSpc>
                <a:spcPct val="150000"/>
              </a:lnSpc>
            </a:pPr>
            <a:r>
              <a:rPr lang="en-US" sz="1600" b="1" dirty="0">
                <a:solidFill>
                  <a:srgbClr val="F5A623"/>
                </a:solidFill>
              </a:rPr>
              <a:t>▸ </a:t>
            </a:r>
            <a:r>
              <a:rPr lang="en-US" sz="1600" dirty="0">
                <a:solidFill>
                  <a:srgbClr val="F2F2F2"/>
                </a:solidFill>
              </a:rPr>
              <a:t>Prepare two purpose-built datasets</a:t>
            </a:r>
          </a:p>
          <a:p>
            <a:pPr>
              <a:lnSpc>
                <a:spcPct val="150000"/>
              </a:lnSpc>
            </a:pPr>
            <a:r>
              <a:rPr lang="en-US" sz="1600" b="1" dirty="0">
                <a:solidFill>
                  <a:srgbClr val="F5A623"/>
                </a:solidFill>
              </a:rPr>
              <a:t>▸</a:t>
            </a:r>
            <a:r>
              <a:rPr lang="en-US" sz="1600" dirty="0">
                <a:solidFill>
                  <a:srgbClr val="F2F2F2"/>
                </a:solidFill>
              </a:rPr>
              <a:t> Train YOLOv11 + SAHI detector</a:t>
            </a:r>
          </a:p>
          <a:p>
            <a:pPr>
              <a:lnSpc>
                <a:spcPct val="150000"/>
              </a:lnSpc>
            </a:pPr>
            <a:r>
              <a:rPr lang="en-US" sz="1600" b="1" dirty="0">
                <a:solidFill>
                  <a:srgbClr val="F5A623"/>
                </a:solidFill>
              </a:rPr>
              <a:t>▸ </a:t>
            </a:r>
            <a:r>
              <a:rPr lang="en-US" sz="1600" dirty="0">
                <a:solidFill>
                  <a:srgbClr val="F2F2F2"/>
                </a:solidFill>
              </a:rPr>
              <a:t>Train temporal transformer on frozen DINOv2 features</a:t>
            </a:r>
          </a:p>
          <a:p>
            <a:pPr>
              <a:lnSpc>
                <a:spcPct val="150000"/>
              </a:lnSpc>
            </a:pPr>
            <a:r>
              <a:rPr lang="en-US" sz="1600" b="1" dirty="0">
                <a:solidFill>
                  <a:srgbClr val="F5A623"/>
                </a:solidFill>
              </a:rPr>
              <a:t>▸ </a:t>
            </a:r>
            <a:r>
              <a:rPr lang="en-US" sz="1600" dirty="0">
                <a:solidFill>
                  <a:srgbClr val="F2F2F2"/>
                </a:solidFill>
              </a:rPr>
              <a:t>Integrate both models end-to-end with </a:t>
            </a:r>
            <a:r>
              <a:rPr lang="en-US" sz="1600" dirty="0" err="1">
                <a:solidFill>
                  <a:srgbClr val="F2F2F2"/>
                </a:solidFill>
              </a:rPr>
              <a:t>ByteTracker</a:t>
            </a:r>
            <a:endParaRPr lang="en-US" sz="1600" dirty="0">
              <a:solidFill>
                <a:srgbClr val="F2F2F2"/>
              </a:solidFill>
            </a:endParaRPr>
          </a:p>
          <a:p>
            <a:pPr>
              <a:lnSpc>
                <a:spcPct val="150000"/>
              </a:lnSpc>
            </a:pPr>
            <a:r>
              <a:rPr lang="en-US" sz="1600" b="1" dirty="0">
                <a:solidFill>
                  <a:srgbClr val="F5A623"/>
                </a:solidFill>
              </a:rPr>
              <a:t>▸ </a:t>
            </a:r>
            <a:r>
              <a:rPr lang="en-US" sz="1600" dirty="0">
                <a:solidFill>
                  <a:srgbClr val="F2F2F2"/>
                </a:solidFill>
              </a:rPr>
              <a:t>Compare to prior work</a:t>
            </a:r>
          </a:p>
        </p:txBody>
      </p:sp>
      <p:sp>
        <p:nvSpPr>
          <p:cNvPr id="13" name="TextBox 12"/>
          <p:cNvSpPr txBox="1"/>
          <p:nvPr/>
        </p:nvSpPr>
        <p:spPr>
          <a:xfrm>
            <a:off x="457200" y="6446520"/>
            <a:ext cx="7315200" cy="153888"/>
          </a:xfrm>
          <a:prstGeom prst="rect">
            <a:avLst/>
          </a:prstGeom>
          <a:noFill/>
        </p:spPr>
        <p:txBody>
          <a:bodyPr wrap="square" lIns="0" tIns="0" rIns="0" bIns="0" anchor="t">
            <a:spAutoFit/>
          </a:bodyPr>
          <a:lstStyle/>
          <a:p>
            <a:r>
              <a:rPr sz="1000" b="0" i="0" dirty="0">
                <a:solidFill>
                  <a:srgbClr val="6F737C"/>
                </a:solidFill>
                <a:latin typeface="Calibri"/>
              </a:rPr>
              <a:t>Bee Behavior Recognition </a:t>
            </a:r>
            <a:r>
              <a:rPr lang="en-US" sz="1000" dirty="0">
                <a:solidFill>
                  <a:srgbClr val="6F737C"/>
                </a:solidFill>
              </a:rPr>
              <a:t>—</a:t>
            </a:r>
            <a:r>
              <a:rPr sz="1000" b="0" i="0" dirty="0">
                <a:solidFill>
                  <a:srgbClr val="6F737C"/>
                </a:solidFill>
                <a:latin typeface="Calibri"/>
              </a:rPr>
              <a:t> Master's Thesis Defense</a:t>
            </a:r>
          </a:p>
        </p:txBody>
      </p:sp>
      <p:sp>
        <p:nvSpPr>
          <p:cNvPr id="14" name="TextBox 13"/>
          <p:cNvSpPr txBox="1"/>
          <p:nvPr/>
        </p:nvSpPr>
        <p:spPr>
          <a:xfrm>
            <a:off x="10789920" y="6446520"/>
            <a:ext cx="914400" cy="153888"/>
          </a:xfrm>
          <a:prstGeom prst="rect">
            <a:avLst/>
          </a:prstGeom>
          <a:noFill/>
        </p:spPr>
        <p:txBody>
          <a:bodyPr wrap="square" lIns="0" tIns="0" rIns="0" bIns="0" anchor="t">
            <a:spAutoFit/>
          </a:bodyPr>
          <a:lstStyle/>
          <a:p>
            <a:pPr algn="r"/>
            <a:r>
              <a:rPr sz="1000" b="0" i="0" dirty="0">
                <a:solidFill>
                  <a:srgbClr val="6F737C"/>
                </a:solidFill>
                <a:latin typeface="Calibri"/>
              </a:rPr>
              <a:t>2 / </a:t>
            </a:r>
            <a:r>
              <a:rPr lang="en-US" sz="1000" b="0" i="0" dirty="0">
                <a:solidFill>
                  <a:srgbClr val="6F737C"/>
                </a:solidFill>
                <a:latin typeface="Calibri"/>
              </a:rPr>
              <a:t>13</a:t>
            </a:r>
            <a:endParaRPr sz="1000" b="0" i="0" dirty="0">
              <a:solidFill>
                <a:srgbClr val="6F737C"/>
              </a:solidFill>
              <a:latin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416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 name="Rectangle 2"/>
          <p:cNvSpPr/>
          <p:nvPr/>
        </p:nvSpPr>
        <p:spPr>
          <a:xfrm>
            <a:off x="457200" y="411480"/>
            <a:ext cx="320040" cy="54864"/>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502920"/>
            <a:ext cx="11247120" cy="430887"/>
          </a:xfrm>
          <a:prstGeom prst="rect">
            <a:avLst/>
          </a:prstGeom>
          <a:noFill/>
        </p:spPr>
        <p:txBody>
          <a:bodyPr wrap="square" lIns="0" tIns="0" rIns="0" bIns="0" anchor="t">
            <a:spAutoFit/>
          </a:bodyPr>
          <a:lstStyle/>
          <a:p>
            <a:pPr algn="l"/>
            <a:r>
              <a:rPr lang="en-US" sz="2800" b="1" i="0" dirty="0">
                <a:solidFill>
                  <a:srgbClr val="F2F2F2"/>
                </a:solidFill>
                <a:latin typeface="Calibri"/>
              </a:rPr>
              <a:t>THE PIPELINE AT A GLANCE</a:t>
            </a:r>
            <a:endParaRPr sz="2800" b="1" i="0" dirty="0">
              <a:solidFill>
                <a:srgbClr val="F2F2F2"/>
              </a:solidFill>
              <a:latin typeface="Calibri"/>
            </a:endParaRPr>
          </a:p>
        </p:txBody>
      </p:sp>
      <p:sp>
        <p:nvSpPr>
          <p:cNvPr id="11" name="TextBox 10"/>
          <p:cNvSpPr txBox="1"/>
          <p:nvPr/>
        </p:nvSpPr>
        <p:spPr>
          <a:xfrm>
            <a:off x="457200" y="6446520"/>
            <a:ext cx="7315200" cy="274320"/>
          </a:xfrm>
          <a:prstGeom prst="rect">
            <a:avLst/>
          </a:prstGeom>
          <a:noFill/>
        </p:spPr>
        <p:txBody>
          <a:bodyPr wrap="square" lIns="0" tIns="0" rIns="0" bIns="0" anchor="t">
            <a:spAutoFit/>
          </a:bodyPr>
          <a:lstStyle/>
          <a:p>
            <a:pPr algn="l"/>
            <a:r>
              <a:rPr sz="1000" b="0" i="0" dirty="0">
                <a:solidFill>
                  <a:srgbClr val="6F737C"/>
                </a:solidFill>
                <a:latin typeface="Calibri"/>
              </a:rPr>
              <a:t>Bee Behavior Recognition — Master's Thesis Defense</a:t>
            </a:r>
          </a:p>
        </p:txBody>
      </p:sp>
      <p:sp>
        <p:nvSpPr>
          <p:cNvPr id="12" name="TextBox 11"/>
          <p:cNvSpPr txBox="1"/>
          <p:nvPr/>
        </p:nvSpPr>
        <p:spPr>
          <a:xfrm>
            <a:off x="10789920" y="6446520"/>
            <a:ext cx="914400" cy="153888"/>
          </a:xfrm>
          <a:prstGeom prst="rect">
            <a:avLst/>
          </a:prstGeom>
          <a:noFill/>
        </p:spPr>
        <p:txBody>
          <a:bodyPr wrap="square" lIns="0" tIns="0" rIns="0" bIns="0" anchor="t">
            <a:spAutoFit/>
          </a:bodyPr>
          <a:lstStyle/>
          <a:p>
            <a:pPr algn="r"/>
            <a:r>
              <a:rPr sz="1000" b="0" i="0" dirty="0">
                <a:solidFill>
                  <a:srgbClr val="6F737C"/>
                </a:solidFill>
                <a:latin typeface="Calibri"/>
              </a:rPr>
              <a:t>3 / 1</a:t>
            </a:r>
            <a:r>
              <a:rPr lang="en-US" sz="1000" dirty="0">
                <a:solidFill>
                  <a:srgbClr val="6F737C"/>
                </a:solidFill>
                <a:latin typeface="Calibri"/>
              </a:rPr>
              <a:t>3</a:t>
            </a:r>
            <a:endParaRPr sz="1000" b="0" i="0" dirty="0">
              <a:solidFill>
                <a:srgbClr val="6F737C"/>
              </a:solidFill>
              <a:latin typeface="Calibri"/>
            </a:endParaRPr>
          </a:p>
        </p:txBody>
      </p:sp>
      <p:pic>
        <p:nvPicPr>
          <p:cNvPr id="16" name="Picture 15">
            <a:extLst>
              <a:ext uri="{FF2B5EF4-FFF2-40B4-BE49-F238E27FC236}">
                <a16:creationId xmlns:a16="http://schemas.microsoft.com/office/drawing/2014/main" id="{D8D33A6A-DB17-50E9-1255-567CD0B552C5}"/>
              </a:ext>
            </a:extLst>
          </p:cNvPr>
          <p:cNvPicPr>
            <a:picLocks noChangeAspect="1"/>
          </p:cNvPicPr>
          <p:nvPr/>
        </p:nvPicPr>
        <p:blipFill>
          <a:blip r:embed="rId2"/>
          <a:stretch>
            <a:fillRect/>
          </a:stretch>
        </p:blipFill>
        <p:spPr>
          <a:xfrm>
            <a:off x="184404" y="1984393"/>
            <a:ext cx="11792712" cy="2889214"/>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416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57200" y="411480"/>
            <a:ext cx="320040" cy="54864"/>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502920"/>
            <a:ext cx="11247120" cy="430887"/>
          </a:xfrm>
          <a:prstGeom prst="rect">
            <a:avLst/>
          </a:prstGeom>
          <a:noFill/>
        </p:spPr>
        <p:txBody>
          <a:bodyPr wrap="square" lIns="0" tIns="0" rIns="0" bIns="0" anchor="t">
            <a:spAutoFit/>
          </a:bodyPr>
          <a:lstStyle/>
          <a:p>
            <a:pPr algn="l"/>
            <a:r>
              <a:rPr lang="en-US" sz="2800" b="1" i="0" dirty="0">
                <a:solidFill>
                  <a:srgbClr val="F2F2F2"/>
                </a:solidFill>
                <a:latin typeface="Calibri"/>
              </a:rPr>
              <a:t>DATA</a:t>
            </a:r>
            <a:r>
              <a:rPr sz="2800" b="1" i="0" dirty="0">
                <a:solidFill>
                  <a:srgbClr val="F2F2F2"/>
                </a:solidFill>
                <a:latin typeface="Calibri"/>
              </a:rPr>
              <a:t> · </a:t>
            </a:r>
            <a:r>
              <a:rPr lang="en-US" sz="2800" b="1" i="0" dirty="0">
                <a:solidFill>
                  <a:srgbClr val="F2F2F2"/>
                </a:solidFill>
                <a:latin typeface="Calibri"/>
              </a:rPr>
              <a:t>DETECTION DATASET</a:t>
            </a:r>
            <a:endParaRPr sz="2800" b="1" i="0" dirty="0">
              <a:solidFill>
                <a:srgbClr val="F2F2F2"/>
              </a:solidFill>
              <a:latin typeface="Calibri"/>
            </a:endParaRPr>
          </a:p>
        </p:txBody>
      </p:sp>
      <p:sp>
        <p:nvSpPr>
          <p:cNvPr id="8" name="TextBox 7"/>
          <p:cNvSpPr txBox="1"/>
          <p:nvPr/>
        </p:nvSpPr>
        <p:spPr>
          <a:xfrm>
            <a:off x="388163" y="1131439"/>
            <a:ext cx="5276088" cy="1058944"/>
          </a:xfrm>
          <a:prstGeom prst="rect">
            <a:avLst/>
          </a:prstGeom>
          <a:noFill/>
        </p:spPr>
        <p:txBody>
          <a:bodyPr wrap="square" lIns="0" tIns="0" rIns="0" bIns="0">
            <a:spAutoFit/>
          </a:bodyPr>
          <a:lstStyle/>
          <a:p>
            <a:pPr>
              <a:lnSpc>
                <a:spcPct val="130000"/>
              </a:lnSpc>
            </a:pPr>
            <a:r>
              <a:rPr lang="en-US" b="1" dirty="0">
                <a:solidFill>
                  <a:srgbClr val="F5A623"/>
                </a:solidFill>
              </a:rPr>
              <a:t>CONSTRUCTION</a:t>
            </a:r>
            <a:endParaRPr lang="en-US" sz="1400" b="1" dirty="0">
              <a:solidFill>
                <a:srgbClr val="F5A623"/>
              </a:solidFill>
              <a:latin typeface="Calibri"/>
            </a:endParaRPr>
          </a:p>
          <a:p>
            <a:pPr algn="l">
              <a:lnSpc>
                <a:spcPct val="150000"/>
              </a:lnSpc>
            </a:pPr>
            <a:r>
              <a:rPr sz="1600" b="1" dirty="0">
                <a:solidFill>
                  <a:srgbClr val="F5A623"/>
                </a:solidFill>
                <a:latin typeface="Calibri"/>
              </a:rPr>
              <a:t>▸ </a:t>
            </a:r>
            <a:r>
              <a:rPr sz="1600" dirty="0">
                <a:solidFill>
                  <a:srgbClr val="F2F2F2"/>
                </a:solidFill>
                <a:latin typeface="Calibri"/>
              </a:rPr>
              <a:t>Source video </a:t>
            </a:r>
            <a:r>
              <a:rPr lang="en-US" sz="1600" dirty="0">
                <a:solidFill>
                  <a:srgbClr val="F2F2F2"/>
                </a:solidFill>
                <a:latin typeface="Calibri"/>
              </a:rPr>
              <a:t>6</a:t>
            </a:r>
            <a:r>
              <a:rPr sz="1600" dirty="0">
                <a:solidFill>
                  <a:srgbClr val="F2F2F2"/>
                </a:solidFill>
                <a:latin typeface="Calibri"/>
              </a:rPr>
              <a:t>0 fps sample every 6th frame </a:t>
            </a:r>
            <a:r>
              <a:rPr lang="en-US" sz="1600" dirty="0">
                <a:solidFill>
                  <a:srgbClr val="F2F2F2"/>
                </a:solidFill>
                <a:latin typeface="Calibri"/>
              </a:rPr>
              <a:t>– 1920X1080p</a:t>
            </a:r>
          </a:p>
          <a:p>
            <a:pPr algn="l">
              <a:lnSpc>
                <a:spcPct val="150000"/>
              </a:lnSpc>
            </a:pPr>
            <a:r>
              <a:rPr sz="1600" b="1" dirty="0">
                <a:solidFill>
                  <a:srgbClr val="F5A623"/>
                </a:solidFill>
                <a:latin typeface="Calibri"/>
              </a:rPr>
              <a:t>▸ </a:t>
            </a:r>
            <a:r>
              <a:rPr sz="1600" dirty="0">
                <a:solidFill>
                  <a:srgbClr val="F2F2F2"/>
                </a:solidFill>
                <a:latin typeface="Calibri"/>
              </a:rPr>
              <a:t>Cut each frame into overlapping 640×640 tiles (25% overlap).</a:t>
            </a:r>
          </a:p>
        </p:txBody>
      </p:sp>
      <p:sp>
        <p:nvSpPr>
          <p:cNvPr id="14" name="TextBox 13"/>
          <p:cNvSpPr txBox="1"/>
          <p:nvPr/>
        </p:nvSpPr>
        <p:spPr>
          <a:xfrm>
            <a:off x="388163" y="6537960"/>
            <a:ext cx="7315200" cy="274320"/>
          </a:xfrm>
          <a:prstGeom prst="rect">
            <a:avLst/>
          </a:prstGeom>
          <a:noFill/>
        </p:spPr>
        <p:txBody>
          <a:bodyPr wrap="square" lIns="0" tIns="0" rIns="0" bIns="0" anchor="t">
            <a:spAutoFit/>
          </a:bodyPr>
          <a:lstStyle/>
          <a:p>
            <a:pPr algn="l"/>
            <a:r>
              <a:rPr sz="1000" b="0" i="0" dirty="0">
                <a:solidFill>
                  <a:srgbClr val="6F737C"/>
                </a:solidFill>
                <a:latin typeface="Calibri"/>
              </a:rPr>
              <a:t>Bee Behavior Recognition — Master's Thesis Defense</a:t>
            </a:r>
          </a:p>
        </p:txBody>
      </p:sp>
      <p:sp>
        <p:nvSpPr>
          <p:cNvPr id="15" name="TextBox 14"/>
          <p:cNvSpPr txBox="1"/>
          <p:nvPr/>
        </p:nvSpPr>
        <p:spPr>
          <a:xfrm>
            <a:off x="10789920" y="6446520"/>
            <a:ext cx="914400" cy="153888"/>
          </a:xfrm>
          <a:prstGeom prst="rect">
            <a:avLst/>
          </a:prstGeom>
          <a:noFill/>
        </p:spPr>
        <p:txBody>
          <a:bodyPr wrap="square" lIns="0" tIns="0" rIns="0" bIns="0" anchor="t">
            <a:spAutoFit/>
          </a:bodyPr>
          <a:lstStyle/>
          <a:p>
            <a:pPr algn="r"/>
            <a:r>
              <a:rPr sz="1000" b="0" i="0" dirty="0">
                <a:solidFill>
                  <a:srgbClr val="6F737C"/>
                </a:solidFill>
                <a:latin typeface="Calibri"/>
              </a:rPr>
              <a:t>4 / </a:t>
            </a:r>
            <a:r>
              <a:rPr lang="en-US" sz="1000" b="0" i="0" dirty="0">
                <a:solidFill>
                  <a:srgbClr val="6F737C"/>
                </a:solidFill>
                <a:latin typeface="Calibri"/>
              </a:rPr>
              <a:t>13</a:t>
            </a:r>
            <a:endParaRPr sz="1000" b="0" i="0" dirty="0">
              <a:solidFill>
                <a:srgbClr val="6F737C"/>
              </a:solidFill>
              <a:latin typeface="Calibri"/>
            </a:endParaRPr>
          </a:p>
        </p:txBody>
      </p:sp>
      <p:pic>
        <p:nvPicPr>
          <p:cNvPr id="17" name="Picture 16">
            <a:extLst>
              <a:ext uri="{FF2B5EF4-FFF2-40B4-BE49-F238E27FC236}">
                <a16:creationId xmlns:a16="http://schemas.microsoft.com/office/drawing/2014/main" id="{615B1CEA-4EA8-E3A9-D233-DF953AAA869B}"/>
              </a:ext>
            </a:extLst>
          </p:cNvPr>
          <p:cNvPicPr>
            <a:picLocks noChangeAspect="1"/>
          </p:cNvPicPr>
          <p:nvPr/>
        </p:nvPicPr>
        <p:blipFill>
          <a:blip r:embed="rId2"/>
          <a:stretch>
            <a:fillRect/>
          </a:stretch>
        </p:blipFill>
        <p:spPr>
          <a:xfrm>
            <a:off x="388163" y="2331720"/>
            <a:ext cx="7315200" cy="4114800"/>
          </a:xfrm>
          <a:prstGeom prst="rect">
            <a:avLst/>
          </a:prstGeom>
        </p:spPr>
      </p:pic>
      <p:pic>
        <p:nvPicPr>
          <p:cNvPr id="19" name="Picture 18">
            <a:extLst>
              <a:ext uri="{FF2B5EF4-FFF2-40B4-BE49-F238E27FC236}">
                <a16:creationId xmlns:a16="http://schemas.microsoft.com/office/drawing/2014/main" id="{4AD8774D-E67D-2E93-1AB6-438CFBF1087C}"/>
              </a:ext>
            </a:extLst>
          </p:cNvPr>
          <p:cNvPicPr>
            <a:picLocks noChangeAspect="1"/>
          </p:cNvPicPr>
          <p:nvPr/>
        </p:nvPicPr>
        <p:blipFill>
          <a:blip r:embed="rId3"/>
          <a:stretch>
            <a:fillRect/>
          </a:stretch>
        </p:blipFill>
        <p:spPr>
          <a:xfrm>
            <a:off x="8473783" y="2773851"/>
            <a:ext cx="3230537" cy="3230537"/>
          </a:xfrm>
          <a:prstGeom prst="rect">
            <a:avLst/>
          </a:prstGeom>
        </p:spPr>
      </p:pic>
      <p:cxnSp>
        <p:nvCxnSpPr>
          <p:cNvPr id="21" name="Straight Arrow Connector 20">
            <a:extLst>
              <a:ext uri="{FF2B5EF4-FFF2-40B4-BE49-F238E27FC236}">
                <a16:creationId xmlns:a16="http://schemas.microsoft.com/office/drawing/2014/main" id="{28F7207C-A974-8DF5-989D-00A4D6A468EC}"/>
              </a:ext>
            </a:extLst>
          </p:cNvPr>
          <p:cNvCxnSpPr>
            <a:cxnSpLocks/>
          </p:cNvCxnSpPr>
          <p:nvPr/>
        </p:nvCxnSpPr>
        <p:spPr>
          <a:xfrm>
            <a:off x="7703363" y="4566080"/>
            <a:ext cx="770420" cy="0"/>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416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57200" y="411480"/>
            <a:ext cx="320040" cy="54864"/>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502920"/>
            <a:ext cx="11247120" cy="430887"/>
          </a:xfrm>
          <a:prstGeom prst="rect">
            <a:avLst/>
          </a:prstGeom>
          <a:noFill/>
        </p:spPr>
        <p:txBody>
          <a:bodyPr wrap="square" lIns="0" tIns="0" rIns="0" bIns="0" anchor="t">
            <a:spAutoFit/>
          </a:bodyPr>
          <a:lstStyle/>
          <a:p>
            <a:pPr algn="l"/>
            <a:r>
              <a:rPr lang="en-US" sz="2800" b="1" i="0" dirty="0">
                <a:solidFill>
                  <a:srgbClr val="F2F2F2"/>
                </a:solidFill>
                <a:latin typeface="Calibri"/>
              </a:rPr>
              <a:t>DETECTION</a:t>
            </a:r>
            <a:r>
              <a:rPr sz="2800" b="1" i="0" dirty="0">
                <a:solidFill>
                  <a:srgbClr val="F2F2F2"/>
                </a:solidFill>
                <a:latin typeface="Calibri"/>
              </a:rPr>
              <a:t> · </a:t>
            </a:r>
            <a:r>
              <a:rPr lang="en-US" sz="2800" b="1" i="0" dirty="0">
                <a:solidFill>
                  <a:srgbClr val="F2F2F2"/>
                </a:solidFill>
                <a:latin typeface="Calibri"/>
              </a:rPr>
              <a:t>RESULTS</a:t>
            </a:r>
            <a:endParaRPr sz="2800" b="1" i="0" dirty="0">
              <a:solidFill>
                <a:srgbClr val="F2F2F2"/>
              </a:solidFill>
              <a:latin typeface="Calibri"/>
            </a:endParaRPr>
          </a:p>
        </p:txBody>
      </p:sp>
      <p:sp>
        <p:nvSpPr>
          <p:cNvPr id="7" name="TextBox 6"/>
          <p:cNvSpPr txBox="1"/>
          <p:nvPr/>
        </p:nvSpPr>
        <p:spPr>
          <a:xfrm>
            <a:off x="307595" y="1807393"/>
            <a:ext cx="3456432" cy="2176173"/>
          </a:xfrm>
          <a:prstGeom prst="rect">
            <a:avLst/>
          </a:prstGeom>
          <a:noFill/>
        </p:spPr>
        <p:txBody>
          <a:bodyPr wrap="square" lIns="0" tIns="0" rIns="0" bIns="0">
            <a:spAutoFit/>
          </a:bodyPr>
          <a:lstStyle/>
          <a:p>
            <a:pPr>
              <a:lnSpc>
                <a:spcPct val="150000"/>
              </a:lnSpc>
            </a:pPr>
            <a:r>
              <a:rPr lang="en-US" sz="1600" b="1" dirty="0">
                <a:solidFill>
                  <a:srgbClr val="F5A623"/>
                </a:solidFill>
              </a:rPr>
              <a:t>MODEL SETUP</a:t>
            </a:r>
            <a:endParaRPr lang="en-US" sz="1600" b="1" dirty="0">
              <a:solidFill>
                <a:srgbClr val="F5A623"/>
              </a:solidFill>
              <a:latin typeface="Calibri"/>
            </a:endParaRPr>
          </a:p>
          <a:p>
            <a:pPr algn="l">
              <a:lnSpc>
                <a:spcPct val="150000"/>
              </a:lnSpc>
            </a:pPr>
            <a:r>
              <a:rPr sz="1600" b="1" dirty="0">
                <a:solidFill>
                  <a:srgbClr val="F5A623"/>
                </a:solidFill>
                <a:latin typeface="Calibri"/>
              </a:rPr>
              <a:t>▸ </a:t>
            </a:r>
            <a:r>
              <a:rPr sz="1600" dirty="0">
                <a:solidFill>
                  <a:srgbClr val="F2F2F2"/>
                </a:solidFill>
                <a:latin typeface="Calibri"/>
              </a:rPr>
              <a:t>YOLOv11</a:t>
            </a:r>
            <a:r>
              <a:rPr lang="en-US" sz="1600" dirty="0">
                <a:solidFill>
                  <a:srgbClr val="F2F2F2"/>
                </a:solidFill>
                <a:latin typeface="Calibri"/>
              </a:rPr>
              <a:t>m – Single stage, anchor free.</a:t>
            </a:r>
            <a:endParaRPr sz="1600" dirty="0">
              <a:solidFill>
                <a:srgbClr val="F2F2F2"/>
              </a:solidFill>
              <a:latin typeface="Calibri"/>
            </a:endParaRPr>
          </a:p>
          <a:p>
            <a:pPr algn="l">
              <a:lnSpc>
                <a:spcPct val="150000"/>
              </a:lnSpc>
            </a:pPr>
            <a:r>
              <a:rPr sz="1600" b="1" dirty="0">
                <a:solidFill>
                  <a:srgbClr val="F5A623"/>
                </a:solidFill>
                <a:latin typeface="Calibri"/>
              </a:rPr>
              <a:t>▸ </a:t>
            </a:r>
            <a:r>
              <a:rPr sz="1600" dirty="0" err="1">
                <a:solidFill>
                  <a:srgbClr val="F2F2F2"/>
                </a:solidFill>
                <a:latin typeface="Calibri"/>
              </a:rPr>
              <a:t>AdamW</a:t>
            </a:r>
            <a:r>
              <a:rPr lang="en-US" sz="1600" dirty="0">
                <a:solidFill>
                  <a:srgbClr val="F2F2F2"/>
                </a:solidFill>
                <a:latin typeface="Calibri"/>
              </a:rPr>
              <a:t>.</a:t>
            </a:r>
            <a:endParaRPr sz="1600" dirty="0">
              <a:solidFill>
                <a:srgbClr val="F2F2F2"/>
              </a:solidFill>
              <a:latin typeface="Calibri"/>
            </a:endParaRPr>
          </a:p>
          <a:p>
            <a:pPr algn="l">
              <a:lnSpc>
                <a:spcPct val="150000"/>
              </a:lnSpc>
            </a:pPr>
            <a:r>
              <a:rPr sz="1600" b="1" dirty="0">
                <a:solidFill>
                  <a:srgbClr val="F5A623"/>
                </a:solidFill>
                <a:latin typeface="Calibri"/>
              </a:rPr>
              <a:t>▸ </a:t>
            </a:r>
            <a:r>
              <a:rPr lang="en-US" sz="1600" dirty="0">
                <a:solidFill>
                  <a:srgbClr val="F2F2F2"/>
                </a:solidFill>
                <a:latin typeface="Calibri"/>
              </a:rPr>
              <a:t>Learning Rate</a:t>
            </a:r>
            <a:r>
              <a:rPr sz="1600" dirty="0">
                <a:solidFill>
                  <a:srgbClr val="F2F2F2"/>
                </a:solidFill>
                <a:latin typeface="Calibri"/>
              </a:rPr>
              <a:t> = 8×10⁻⁴ + cosine decay.</a:t>
            </a:r>
          </a:p>
          <a:p>
            <a:pPr algn="l">
              <a:lnSpc>
                <a:spcPct val="150000"/>
              </a:lnSpc>
            </a:pPr>
            <a:r>
              <a:rPr sz="1600" b="1" dirty="0">
                <a:solidFill>
                  <a:srgbClr val="F5A623"/>
                </a:solidFill>
                <a:latin typeface="Calibri"/>
              </a:rPr>
              <a:t>▸ </a:t>
            </a:r>
            <a:r>
              <a:rPr sz="1600" dirty="0">
                <a:solidFill>
                  <a:srgbClr val="F2F2F2"/>
                </a:solidFill>
                <a:latin typeface="Calibri"/>
              </a:rPr>
              <a:t>Trained 238 epochs (early stop 50).</a:t>
            </a:r>
          </a:p>
          <a:p>
            <a:pPr algn="l">
              <a:lnSpc>
                <a:spcPct val="150000"/>
              </a:lnSpc>
            </a:pPr>
            <a:r>
              <a:rPr sz="1600" b="1" dirty="0">
                <a:solidFill>
                  <a:srgbClr val="F5A623"/>
                </a:solidFill>
                <a:latin typeface="Calibri"/>
              </a:rPr>
              <a:t>▸ </a:t>
            </a:r>
            <a:r>
              <a:rPr sz="1600" dirty="0">
                <a:solidFill>
                  <a:srgbClr val="F2F2F2"/>
                </a:solidFill>
                <a:latin typeface="Calibri"/>
              </a:rPr>
              <a:t>Confidence threshold 0.</a:t>
            </a:r>
            <a:r>
              <a:rPr lang="en-US" sz="1600" dirty="0">
                <a:solidFill>
                  <a:srgbClr val="F2F2F2"/>
                </a:solidFill>
                <a:latin typeface="Calibri"/>
              </a:rPr>
              <a:t>4</a:t>
            </a:r>
            <a:r>
              <a:rPr sz="1600" dirty="0">
                <a:solidFill>
                  <a:srgbClr val="F2F2F2"/>
                </a:solidFill>
                <a:latin typeface="Calibri"/>
              </a:rPr>
              <a:t>5.</a:t>
            </a:r>
          </a:p>
        </p:txBody>
      </p:sp>
      <p:graphicFrame>
        <p:nvGraphicFramePr>
          <p:cNvPr id="8" name="Table 7"/>
          <p:cNvGraphicFramePr>
            <a:graphicFrameLocks noGrp="1"/>
          </p:cNvGraphicFramePr>
          <p:nvPr>
            <p:extLst>
              <p:ext uri="{D42A27DB-BD31-4B8C-83A1-F6EECF244321}">
                <p14:modId xmlns:p14="http://schemas.microsoft.com/office/powerpoint/2010/main" val="3745730838"/>
              </p:ext>
            </p:extLst>
          </p:nvPr>
        </p:nvGraphicFramePr>
        <p:xfrm>
          <a:off x="4071622" y="1807393"/>
          <a:ext cx="3285747" cy="2703230"/>
        </p:xfrm>
        <a:graphic>
          <a:graphicData uri="http://schemas.openxmlformats.org/drawingml/2006/table">
            <a:tbl>
              <a:tblPr firstRow="1" bandRow="1">
                <a:tableStyleId>{5C22544A-7EE6-4342-B048-85BDC9FD1C3A}</a:tableStyleId>
              </a:tblPr>
              <a:tblGrid>
                <a:gridCol w="1095249">
                  <a:extLst>
                    <a:ext uri="{9D8B030D-6E8A-4147-A177-3AD203B41FA5}">
                      <a16:colId xmlns:a16="http://schemas.microsoft.com/office/drawing/2014/main" val="20000"/>
                    </a:ext>
                  </a:extLst>
                </a:gridCol>
                <a:gridCol w="1095249">
                  <a:extLst>
                    <a:ext uri="{9D8B030D-6E8A-4147-A177-3AD203B41FA5}">
                      <a16:colId xmlns:a16="http://schemas.microsoft.com/office/drawing/2014/main" val="20001"/>
                    </a:ext>
                  </a:extLst>
                </a:gridCol>
                <a:gridCol w="1095249">
                  <a:extLst>
                    <a:ext uri="{9D8B030D-6E8A-4147-A177-3AD203B41FA5}">
                      <a16:colId xmlns:a16="http://schemas.microsoft.com/office/drawing/2014/main" val="20002"/>
                    </a:ext>
                  </a:extLst>
                </a:gridCol>
              </a:tblGrid>
              <a:tr h="540646">
                <a:tc>
                  <a:txBody>
                    <a:bodyPr/>
                    <a:lstStyle/>
                    <a:p>
                      <a:pPr algn="ctr"/>
                      <a:r>
                        <a:rPr sz="1400" b="1" dirty="0">
                          <a:solidFill>
                            <a:srgbClr val="14161B"/>
                          </a:solidFill>
                          <a:latin typeface="Calibri"/>
                        </a:rPr>
                        <a:t>Metric</a:t>
                      </a:r>
                    </a:p>
                  </a:txBody>
                  <a:tcPr marL="50000" marR="50000" marT="30000" marB="30000">
                    <a:solidFill>
                      <a:srgbClr val="F5A623"/>
                    </a:solidFill>
                  </a:tcPr>
                </a:tc>
                <a:tc>
                  <a:txBody>
                    <a:bodyPr/>
                    <a:lstStyle/>
                    <a:p>
                      <a:pPr algn="ctr"/>
                      <a:r>
                        <a:rPr sz="1400" b="1">
                          <a:solidFill>
                            <a:srgbClr val="14161B"/>
                          </a:solidFill>
                          <a:latin typeface="Calibri"/>
                        </a:rPr>
                        <a:t>YOLOv11-m</a:t>
                      </a:r>
                    </a:p>
                  </a:txBody>
                  <a:tcPr marL="50000" marR="50000" marT="30000" marB="30000">
                    <a:solidFill>
                      <a:srgbClr val="F5A623"/>
                    </a:solidFill>
                  </a:tcPr>
                </a:tc>
                <a:tc>
                  <a:txBody>
                    <a:bodyPr/>
                    <a:lstStyle/>
                    <a:p>
                      <a:pPr algn="ctr"/>
                      <a:r>
                        <a:rPr sz="1400" b="1" dirty="0">
                          <a:solidFill>
                            <a:srgbClr val="14161B"/>
                          </a:solidFill>
                          <a:latin typeface="Calibri"/>
                        </a:rPr>
                        <a:t>YOLOv8-m (prior)</a:t>
                      </a:r>
                    </a:p>
                  </a:txBody>
                  <a:tcPr marL="50000" marR="50000" marT="30000" marB="30000">
                    <a:solidFill>
                      <a:srgbClr val="F5A623"/>
                    </a:solidFill>
                  </a:tcPr>
                </a:tc>
                <a:extLst>
                  <a:ext uri="{0D108BD9-81ED-4DB2-BD59-A6C34878D82A}">
                    <a16:rowId xmlns:a16="http://schemas.microsoft.com/office/drawing/2014/main" val="10000"/>
                  </a:ext>
                </a:extLst>
              </a:tr>
              <a:tr h="540646">
                <a:tc>
                  <a:txBody>
                    <a:bodyPr/>
                    <a:lstStyle/>
                    <a:p>
                      <a:pPr algn="ctr"/>
                      <a:r>
                        <a:rPr sz="1400" b="0">
                          <a:solidFill>
                            <a:srgbClr val="F2F2F2"/>
                          </a:solidFill>
                          <a:latin typeface="Calibri"/>
                        </a:rPr>
                        <a:t>Precision</a:t>
                      </a:r>
                    </a:p>
                  </a:txBody>
                  <a:tcPr marL="50000" marR="50000" marT="30000" marB="30000">
                    <a:solidFill>
                      <a:srgbClr val="1F2229"/>
                    </a:solidFill>
                  </a:tcPr>
                </a:tc>
                <a:tc>
                  <a:txBody>
                    <a:bodyPr/>
                    <a:lstStyle/>
                    <a:p>
                      <a:pPr algn="ctr"/>
                      <a:r>
                        <a:rPr sz="1400" b="1">
                          <a:solidFill>
                            <a:srgbClr val="6AC87E"/>
                          </a:solidFill>
                          <a:latin typeface="Calibri"/>
                        </a:rPr>
                        <a:t>0.983</a:t>
                      </a:r>
                    </a:p>
                  </a:txBody>
                  <a:tcPr marL="50000" marR="50000" marT="30000" marB="30000">
                    <a:solidFill>
                      <a:srgbClr val="1F2229"/>
                    </a:solidFill>
                  </a:tcPr>
                </a:tc>
                <a:tc>
                  <a:txBody>
                    <a:bodyPr/>
                    <a:lstStyle/>
                    <a:p>
                      <a:pPr algn="ctr"/>
                      <a:r>
                        <a:rPr sz="1400" b="0">
                          <a:solidFill>
                            <a:srgbClr val="F2F2F2"/>
                          </a:solidFill>
                          <a:latin typeface="Calibri"/>
                        </a:rPr>
                        <a:t>0.98</a:t>
                      </a:r>
                    </a:p>
                  </a:txBody>
                  <a:tcPr marL="50000" marR="50000" marT="30000" marB="30000">
                    <a:solidFill>
                      <a:srgbClr val="1F2229"/>
                    </a:solidFill>
                  </a:tcPr>
                </a:tc>
                <a:extLst>
                  <a:ext uri="{0D108BD9-81ED-4DB2-BD59-A6C34878D82A}">
                    <a16:rowId xmlns:a16="http://schemas.microsoft.com/office/drawing/2014/main" val="10001"/>
                  </a:ext>
                </a:extLst>
              </a:tr>
              <a:tr h="540646">
                <a:tc>
                  <a:txBody>
                    <a:bodyPr/>
                    <a:lstStyle/>
                    <a:p>
                      <a:pPr algn="ctr"/>
                      <a:r>
                        <a:rPr sz="1400" b="0">
                          <a:solidFill>
                            <a:srgbClr val="F2F2F2"/>
                          </a:solidFill>
                          <a:latin typeface="Calibri"/>
                        </a:rPr>
                        <a:t>Recall</a:t>
                      </a:r>
                    </a:p>
                  </a:txBody>
                  <a:tcPr marL="50000" marR="50000" marT="30000" marB="30000">
                    <a:solidFill>
                      <a:srgbClr val="1F2229"/>
                    </a:solidFill>
                  </a:tcPr>
                </a:tc>
                <a:tc>
                  <a:txBody>
                    <a:bodyPr/>
                    <a:lstStyle/>
                    <a:p>
                      <a:pPr algn="ctr"/>
                      <a:r>
                        <a:rPr sz="1400" b="1">
                          <a:solidFill>
                            <a:srgbClr val="6AC87E"/>
                          </a:solidFill>
                          <a:latin typeface="Calibri"/>
                        </a:rPr>
                        <a:t>0.973</a:t>
                      </a:r>
                    </a:p>
                  </a:txBody>
                  <a:tcPr marL="50000" marR="50000" marT="30000" marB="30000">
                    <a:solidFill>
                      <a:srgbClr val="1F2229"/>
                    </a:solidFill>
                  </a:tcPr>
                </a:tc>
                <a:tc>
                  <a:txBody>
                    <a:bodyPr/>
                    <a:lstStyle/>
                    <a:p>
                      <a:pPr algn="ctr"/>
                      <a:r>
                        <a:rPr sz="1400" b="0">
                          <a:solidFill>
                            <a:srgbClr val="F2F2F2"/>
                          </a:solidFill>
                          <a:latin typeface="Calibri"/>
                        </a:rPr>
                        <a:t>0.97</a:t>
                      </a:r>
                    </a:p>
                  </a:txBody>
                  <a:tcPr marL="50000" marR="50000" marT="30000" marB="30000">
                    <a:solidFill>
                      <a:srgbClr val="1F2229"/>
                    </a:solidFill>
                  </a:tcPr>
                </a:tc>
                <a:extLst>
                  <a:ext uri="{0D108BD9-81ED-4DB2-BD59-A6C34878D82A}">
                    <a16:rowId xmlns:a16="http://schemas.microsoft.com/office/drawing/2014/main" val="10002"/>
                  </a:ext>
                </a:extLst>
              </a:tr>
              <a:tr h="540646">
                <a:tc>
                  <a:txBody>
                    <a:bodyPr/>
                    <a:lstStyle/>
                    <a:p>
                      <a:pPr algn="ctr"/>
                      <a:r>
                        <a:rPr sz="1400" b="0">
                          <a:solidFill>
                            <a:srgbClr val="F2F2F2"/>
                          </a:solidFill>
                          <a:latin typeface="Calibri"/>
                        </a:rPr>
                        <a:t>mAP@0.5</a:t>
                      </a:r>
                    </a:p>
                  </a:txBody>
                  <a:tcPr marL="50000" marR="50000" marT="30000" marB="30000">
                    <a:solidFill>
                      <a:srgbClr val="1F2229"/>
                    </a:solidFill>
                  </a:tcPr>
                </a:tc>
                <a:tc>
                  <a:txBody>
                    <a:bodyPr/>
                    <a:lstStyle/>
                    <a:p>
                      <a:pPr algn="ctr"/>
                      <a:r>
                        <a:rPr sz="1400" b="1">
                          <a:solidFill>
                            <a:srgbClr val="6AC87E"/>
                          </a:solidFill>
                          <a:latin typeface="Calibri"/>
                        </a:rPr>
                        <a:t>0.992</a:t>
                      </a:r>
                    </a:p>
                  </a:txBody>
                  <a:tcPr marL="50000" marR="50000" marT="30000" marB="30000">
                    <a:solidFill>
                      <a:srgbClr val="1F2229"/>
                    </a:solidFill>
                  </a:tcPr>
                </a:tc>
                <a:tc>
                  <a:txBody>
                    <a:bodyPr/>
                    <a:lstStyle/>
                    <a:p>
                      <a:pPr algn="ctr"/>
                      <a:r>
                        <a:rPr sz="1400" b="0">
                          <a:solidFill>
                            <a:srgbClr val="F2F2F2"/>
                          </a:solidFill>
                          <a:latin typeface="Calibri"/>
                        </a:rPr>
                        <a:t>0.97</a:t>
                      </a:r>
                    </a:p>
                  </a:txBody>
                  <a:tcPr marL="50000" marR="50000" marT="30000" marB="30000">
                    <a:solidFill>
                      <a:srgbClr val="1F2229"/>
                    </a:solidFill>
                  </a:tcPr>
                </a:tc>
                <a:extLst>
                  <a:ext uri="{0D108BD9-81ED-4DB2-BD59-A6C34878D82A}">
                    <a16:rowId xmlns:a16="http://schemas.microsoft.com/office/drawing/2014/main" val="10003"/>
                  </a:ext>
                </a:extLst>
              </a:tr>
              <a:tr h="540646">
                <a:tc>
                  <a:txBody>
                    <a:bodyPr/>
                    <a:lstStyle/>
                    <a:p>
                      <a:pPr algn="ctr"/>
                      <a:r>
                        <a:rPr sz="1400" b="0">
                          <a:solidFill>
                            <a:srgbClr val="F2F2F2"/>
                          </a:solidFill>
                          <a:latin typeface="Calibri"/>
                        </a:rPr>
                        <a:t>mAP@0.5:0.95</a:t>
                      </a:r>
                    </a:p>
                  </a:txBody>
                  <a:tcPr marL="50000" marR="50000" marT="30000" marB="30000">
                    <a:solidFill>
                      <a:srgbClr val="1F2229"/>
                    </a:solidFill>
                  </a:tcPr>
                </a:tc>
                <a:tc>
                  <a:txBody>
                    <a:bodyPr/>
                    <a:lstStyle/>
                    <a:p>
                      <a:pPr algn="ctr"/>
                      <a:r>
                        <a:rPr sz="1400" b="1">
                          <a:solidFill>
                            <a:srgbClr val="6AC87E"/>
                          </a:solidFill>
                          <a:latin typeface="Calibri"/>
                        </a:rPr>
                        <a:t>0.853</a:t>
                      </a:r>
                    </a:p>
                  </a:txBody>
                  <a:tcPr marL="50000" marR="50000" marT="30000" marB="30000">
                    <a:solidFill>
                      <a:srgbClr val="1F2229"/>
                    </a:solidFill>
                  </a:tcPr>
                </a:tc>
                <a:tc>
                  <a:txBody>
                    <a:bodyPr/>
                    <a:lstStyle/>
                    <a:p>
                      <a:pPr algn="ctr"/>
                      <a:r>
                        <a:rPr sz="1400" b="0" dirty="0">
                          <a:solidFill>
                            <a:srgbClr val="F2F2F2"/>
                          </a:solidFill>
                          <a:latin typeface="Calibri"/>
                        </a:rPr>
                        <a:t>0.65</a:t>
                      </a:r>
                    </a:p>
                  </a:txBody>
                  <a:tcPr marL="50000" marR="50000" marT="30000" marB="30000">
                    <a:solidFill>
                      <a:srgbClr val="1F2229"/>
                    </a:solidFill>
                  </a:tcPr>
                </a:tc>
                <a:extLst>
                  <a:ext uri="{0D108BD9-81ED-4DB2-BD59-A6C34878D82A}">
                    <a16:rowId xmlns:a16="http://schemas.microsoft.com/office/drawing/2014/main" val="10004"/>
                  </a:ext>
                </a:extLst>
              </a:tr>
            </a:tbl>
          </a:graphicData>
        </a:graphic>
      </p:graphicFrame>
      <p:sp>
        <p:nvSpPr>
          <p:cNvPr id="13" name="TextBox 12"/>
          <p:cNvSpPr txBox="1"/>
          <p:nvPr/>
        </p:nvSpPr>
        <p:spPr>
          <a:xfrm>
            <a:off x="457200" y="6446520"/>
            <a:ext cx="7315200" cy="274320"/>
          </a:xfrm>
          <a:prstGeom prst="rect">
            <a:avLst/>
          </a:prstGeom>
          <a:noFill/>
        </p:spPr>
        <p:txBody>
          <a:bodyPr wrap="square" lIns="0" tIns="0" rIns="0" bIns="0" anchor="t">
            <a:spAutoFit/>
          </a:bodyPr>
          <a:lstStyle/>
          <a:p>
            <a:pPr algn="l"/>
            <a:r>
              <a:rPr sz="1000" b="0" i="0">
                <a:solidFill>
                  <a:srgbClr val="6F737C"/>
                </a:solidFill>
                <a:latin typeface="Calibri"/>
              </a:rPr>
              <a:t>Bee Behavior Recognition — Master's Thesis Defense</a:t>
            </a:r>
          </a:p>
        </p:txBody>
      </p:sp>
      <p:sp>
        <p:nvSpPr>
          <p:cNvPr id="14" name="TextBox 13"/>
          <p:cNvSpPr txBox="1"/>
          <p:nvPr/>
        </p:nvSpPr>
        <p:spPr>
          <a:xfrm>
            <a:off x="10789920" y="6446520"/>
            <a:ext cx="914400" cy="153888"/>
          </a:xfrm>
          <a:prstGeom prst="rect">
            <a:avLst/>
          </a:prstGeom>
          <a:noFill/>
        </p:spPr>
        <p:txBody>
          <a:bodyPr wrap="square" lIns="0" tIns="0" rIns="0" bIns="0" anchor="t">
            <a:spAutoFit/>
          </a:bodyPr>
          <a:lstStyle/>
          <a:p>
            <a:pPr algn="r"/>
            <a:r>
              <a:rPr sz="1000" b="0" i="0" dirty="0">
                <a:solidFill>
                  <a:srgbClr val="6F737C"/>
                </a:solidFill>
                <a:latin typeface="Calibri"/>
              </a:rPr>
              <a:t>5 / </a:t>
            </a:r>
            <a:r>
              <a:rPr lang="en-US" sz="1000" b="0" i="0" dirty="0">
                <a:solidFill>
                  <a:srgbClr val="6F737C"/>
                </a:solidFill>
                <a:latin typeface="Calibri"/>
              </a:rPr>
              <a:t>13</a:t>
            </a:r>
            <a:endParaRPr sz="1000" b="0" i="0" dirty="0">
              <a:solidFill>
                <a:srgbClr val="6F737C"/>
              </a:solidFill>
              <a:latin typeface="Calibri"/>
            </a:endParaRPr>
          </a:p>
        </p:txBody>
      </p:sp>
      <p:pic>
        <p:nvPicPr>
          <p:cNvPr id="18" name="Picture 17">
            <a:extLst>
              <a:ext uri="{FF2B5EF4-FFF2-40B4-BE49-F238E27FC236}">
                <a16:creationId xmlns:a16="http://schemas.microsoft.com/office/drawing/2014/main" id="{034C5822-4E5A-6442-583E-642795929EF3}"/>
              </a:ext>
            </a:extLst>
          </p:cNvPr>
          <p:cNvPicPr>
            <a:picLocks noChangeAspect="1"/>
          </p:cNvPicPr>
          <p:nvPr/>
        </p:nvPicPr>
        <p:blipFill>
          <a:blip r:embed="rId2"/>
          <a:stretch>
            <a:fillRect/>
          </a:stretch>
        </p:blipFill>
        <p:spPr>
          <a:xfrm>
            <a:off x="7664964" y="1335252"/>
            <a:ext cx="4183790" cy="4187496"/>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416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57200" y="411480"/>
            <a:ext cx="320040" cy="54864"/>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502920"/>
            <a:ext cx="11247120" cy="430887"/>
          </a:xfrm>
          <a:prstGeom prst="rect">
            <a:avLst/>
          </a:prstGeom>
          <a:noFill/>
        </p:spPr>
        <p:txBody>
          <a:bodyPr wrap="square" lIns="0" tIns="0" rIns="0" bIns="0" anchor="t">
            <a:spAutoFit/>
          </a:bodyPr>
          <a:lstStyle/>
          <a:p>
            <a:pPr algn="l"/>
            <a:r>
              <a:rPr lang="en-US" sz="2800" b="1" i="0" dirty="0">
                <a:solidFill>
                  <a:srgbClr val="F2F2F2"/>
                </a:solidFill>
                <a:latin typeface="Calibri"/>
              </a:rPr>
              <a:t>DATA</a:t>
            </a:r>
            <a:r>
              <a:rPr sz="2800" b="1" i="0" dirty="0">
                <a:solidFill>
                  <a:srgbClr val="F2F2F2"/>
                </a:solidFill>
                <a:latin typeface="Calibri"/>
              </a:rPr>
              <a:t> · </a:t>
            </a:r>
            <a:r>
              <a:rPr lang="en-US" sz="2800" b="1" i="0" dirty="0">
                <a:solidFill>
                  <a:srgbClr val="F2F2F2"/>
                </a:solidFill>
                <a:latin typeface="Calibri"/>
              </a:rPr>
              <a:t>ACTION RECOGNITION DATASET CONSTRUCTION</a:t>
            </a:r>
            <a:endParaRPr sz="2800" b="1" i="0" dirty="0">
              <a:solidFill>
                <a:srgbClr val="F2F2F2"/>
              </a:solidFill>
              <a:latin typeface="Calibri"/>
            </a:endParaRPr>
          </a:p>
        </p:txBody>
      </p:sp>
      <p:sp>
        <p:nvSpPr>
          <p:cNvPr id="7" name="TextBox 6"/>
          <p:cNvSpPr txBox="1"/>
          <p:nvPr/>
        </p:nvSpPr>
        <p:spPr>
          <a:xfrm>
            <a:off x="457200" y="1138342"/>
            <a:ext cx="5943600" cy="2222596"/>
          </a:xfrm>
          <a:prstGeom prst="rect">
            <a:avLst/>
          </a:prstGeom>
          <a:noFill/>
        </p:spPr>
        <p:txBody>
          <a:bodyPr wrap="square" lIns="0" tIns="0" rIns="0" bIns="0">
            <a:spAutoFit/>
          </a:bodyPr>
          <a:lstStyle/>
          <a:p>
            <a:pPr>
              <a:lnSpc>
                <a:spcPct val="130000"/>
              </a:lnSpc>
            </a:pPr>
            <a:r>
              <a:rPr lang="en-US" sz="2000" b="1" dirty="0">
                <a:solidFill>
                  <a:srgbClr val="F5A623"/>
                </a:solidFill>
              </a:rPr>
              <a:t>THREE CLASSES</a:t>
            </a:r>
          </a:p>
          <a:p>
            <a:pPr>
              <a:lnSpc>
                <a:spcPct val="130000"/>
              </a:lnSpc>
            </a:pPr>
            <a:endParaRPr lang="en-US" sz="1200" b="1" dirty="0">
              <a:solidFill>
                <a:srgbClr val="F5A623"/>
              </a:solidFill>
              <a:latin typeface="Calibri"/>
            </a:endParaRPr>
          </a:p>
          <a:p>
            <a:pPr algn="l">
              <a:lnSpc>
                <a:spcPct val="150000"/>
              </a:lnSpc>
            </a:pPr>
            <a:r>
              <a:rPr sz="1400" b="1" dirty="0">
                <a:solidFill>
                  <a:srgbClr val="F5A623"/>
                </a:solidFill>
                <a:latin typeface="Calibri"/>
              </a:rPr>
              <a:t>▸ </a:t>
            </a:r>
            <a:r>
              <a:rPr sz="1400" dirty="0">
                <a:solidFill>
                  <a:srgbClr val="F2F2F2"/>
                </a:solidFill>
                <a:latin typeface="Calibri"/>
              </a:rPr>
              <a:t>Fanning — wing motion, stationary body.</a:t>
            </a:r>
          </a:p>
          <a:p>
            <a:pPr algn="l">
              <a:lnSpc>
                <a:spcPct val="150000"/>
              </a:lnSpc>
            </a:pPr>
            <a:r>
              <a:rPr sz="1400" b="1" dirty="0">
                <a:solidFill>
                  <a:srgbClr val="F5A623"/>
                </a:solidFill>
                <a:latin typeface="Calibri"/>
              </a:rPr>
              <a:t>▸ </a:t>
            </a:r>
            <a:r>
              <a:rPr sz="1400" dirty="0">
                <a:solidFill>
                  <a:srgbClr val="F2F2F2"/>
                </a:solidFill>
                <a:latin typeface="Calibri"/>
              </a:rPr>
              <a:t>Trophallaxis — two</a:t>
            </a:r>
            <a:r>
              <a:rPr lang="en-US" sz="1400" dirty="0">
                <a:solidFill>
                  <a:srgbClr val="F2F2F2"/>
                </a:solidFill>
                <a:latin typeface="Calibri"/>
              </a:rPr>
              <a:t> or more</a:t>
            </a:r>
            <a:r>
              <a:rPr sz="1400" dirty="0">
                <a:solidFill>
                  <a:srgbClr val="F2F2F2"/>
                </a:solidFill>
                <a:latin typeface="Calibri"/>
              </a:rPr>
              <a:t> bees mouth-to-mouth</a:t>
            </a:r>
          </a:p>
          <a:p>
            <a:pPr algn="l">
              <a:lnSpc>
                <a:spcPct val="150000"/>
              </a:lnSpc>
            </a:pPr>
            <a:r>
              <a:rPr sz="1400" b="1" dirty="0">
                <a:solidFill>
                  <a:srgbClr val="F5A623"/>
                </a:solidFill>
                <a:latin typeface="Calibri"/>
              </a:rPr>
              <a:t>▸ </a:t>
            </a:r>
            <a:r>
              <a:rPr sz="1400" dirty="0">
                <a:solidFill>
                  <a:srgbClr val="F2F2F2"/>
                </a:solidFill>
                <a:latin typeface="Calibri"/>
              </a:rPr>
              <a:t>Neutral — ordinary walking</a:t>
            </a:r>
            <a:r>
              <a:rPr lang="en-US" sz="1400" dirty="0">
                <a:solidFill>
                  <a:srgbClr val="F2F2F2"/>
                </a:solidFill>
                <a:latin typeface="Calibri"/>
              </a:rPr>
              <a:t>, flying</a:t>
            </a:r>
            <a:r>
              <a:rPr sz="1400" dirty="0">
                <a:solidFill>
                  <a:srgbClr val="F2F2F2"/>
                </a:solidFill>
                <a:latin typeface="Calibri"/>
              </a:rPr>
              <a:t> (baseline).</a:t>
            </a:r>
            <a:endParaRPr lang="en-US" sz="1400" dirty="0">
              <a:solidFill>
                <a:srgbClr val="F2F2F2"/>
              </a:solidFill>
              <a:latin typeface="Calibri"/>
            </a:endParaRPr>
          </a:p>
          <a:p>
            <a:pPr>
              <a:lnSpc>
                <a:spcPct val="150000"/>
              </a:lnSpc>
            </a:pPr>
            <a:r>
              <a:rPr lang="en-US" sz="1400" b="1" dirty="0">
                <a:solidFill>
                  <a:srgbClr val="F5A623"/>
                </a:solidFill>
              </a:rPr>
              <a:t>▸</a:t>
            </a:r>
            <a:r>
              <a:rPr lang="en-US" sz="1400" dirty="0">
                <a:solidFill>
                  <a:srgbClr val="F2F2F2"/>
                </a:solidFill>
              </a:rPr>
              <a:t> Grouped by </a:t>
            </a:r>
            <a:r>
              <a:rPr lang="en-US" sz="1400" dirty="0" err="1">
                <a:solidFill>
                  <a:srgbClr val="F2F2F2"/>
                </a:solidFill>
              </a:rPr>
              <a:t>Bytetracker</a:t>
            </a:r>
            <a:r>
              <a:rPr lang="en-US" sz="1400" dirty="0">
                <a:solidFill>
                  <a:srgbClr val="F2F2F2"/>
                </a:solidFill>
              </a:rPr>
              <a:t> ID </a:t>
            </a:r>
            <a:endParaRPr lang="en-US" sz="1400" dirty="0">
              <a:solidFill>
                <a:srgbClr val="F2F2F2"/>
              </a:solidFill>
              <a:latin typeface="Calibri"/>
            </a:endParaRPr>
          </a:p>
          <a:p>
            <a:pPr algn="l">
              <a:lnSpc>
                <a:spcPct val="150000"/>
              </a:lnSpc>
            </a:pPr>
            <a:endParaRPr sz="1400" dirty="0">
              <a:solidFill>
                <a:srgbClr val="F2F2F2"/>
              </a:solidFill>
              <a:latin typeface="Calibri"/>
            </a:endParaRPr>
          </a:p>
        </p:txBody>
      </p:sp>
      <p:pic>
        <p:nvPicPr>
          <p:cNvPr id="11" name="Picture 10" descr="fig_4_4_sequence_counts.png"/>
          <p:cNvPicPr>
            <a:picLocks noChangeAspect="1"/>
          </p:cNvPicPr>
          <p:nvPr/>
        </p:nvPicPr>
        <p:blipFill>
          <a:blip r:embed="rId2"/>
          <a:stretch>
            <a:fillRect/>
          </a:stretch>
        </p:blipFill>
        <p:spPr>
          <a:xfrm>
            <a:off x="5434678" y="1568094"/>
            <a:ext cx="6300122" cy="4466945"/>
          </a:xfrm>
          <a:prstGeom prst="rect">
            <a:avLst/>
          </a:prstGeom>
        </p:spPr>
      </p:pic>
      <p:sp>
        <p:nvSpPr>
          <p:cNvPr id="14" name="TextBox 13"/>
          <p:cNvSpPr txBox="1"/>
          <p:nvPr/>
        </p:nvSpPr>
        <p:spPr>
          <a:xfrm>
            <a:off x="457200" y="3565473"/>
            <a:ext cx="4937760" cy="1530997"/>
          </a:xfrm>
          <a:prstGeom prst="rect">
            <a:avLst/>
          </a:prstGeom>
          <a:noFill/>
        </p:spPr>
        <p:txBody>
          <a:bodyPr wrap="square" lIns="0" tIns="0" rIns="0" bIns="0">
            <a:spAutoFit/>
          </a:bodyPr>
          <a:lstStyle/>
          <a:p>
            <a:pPr>
              <a:lnSpc>
                <a:spcPct val="125000"/>
              </a:lnSpc>
            </a:pPr>
            <a:r>
              <a:rPr lang="en-US" sz="2000" b="1" dirty="0">
                <a:solidFill>
                  <a:srgbClr val="F5A623"/>
                </a:solidFill>
              </a:rPr>
              <a:t>HANDLING DATA IMBALANCE</a:t>
            </a:r>
          </a:p>
          <a:p>
            <a:pPr algn="l">
              <a:lnSpc>
                <a:spcPct val="125000"/>
              </a:lnSpc>
            </a:pPr>
            <a:endParaRPr lang="en-US" sz="1100" b="1" dirty="0">
              <a:solidFill>
                <a:srgbClr val="F5A623"/>
              </a:solidFill>
              <a:latin typeface="Calibri"/>
            </a:endParaRPr>
          </a:p>
          <a:p>
            <a:pPr algn="l">
              <a:lnSpc>
                <a:spcPct val="150000"/>
              </a:lnSpc>
            </a:pPr>
            <a:r>
              <a:rPr sz="1400" b="1" dirty="0">
                <a:solidFill>
                  <a:srgbClr val="F5A623"/>
                </a:solidFill>
                <a:latin typeface="Calibri"/>
              </a:rPr>
              <a:t>▸ </a:t>
            </a:r>
            <a:r>
              <a:rPr sz="1400" dirty="0">
                <a:solidFill>
                  <a:srgbClr val="F2F2F2"/>
                </a:solidFill>
                <a:latin typeface="Calibri"/>
              </a:rPr>
              <a:t>Proportional sampling: n = max(1, ⌊L/16⌋) windows/seq.</a:t>
            </a:r>
          </a:p>
          <a:p>
            <a:pPr algn="l">
              <a:lnSpc>
                <a:spcPct val="150000"/>
              </a:lnSpc>
            </a:pPr>
            <a:r>
              <a:rPr sz="1400" b="1" dirty="0">
                <a:solidFill>
                  <a:srgbClr val="F5A623"/>
                </a:solidFill>
                <a:latin typeface="Calibri"/>
              </a:rPr>
              <a:t>▸ </a:t>
            </a:r>
            <a:r>
              <a:rPr sz="1400" dirty="0">
                <a:solidFill>
                  <a:srgbClr val="F2F2F2"/>
                </a:solidFill>
                <a:latin typeface="Calibri"/>
              </a:rPr>
              <a:t>~</a:t>
            </a:r>
            <a:r>
              <a:rPr lang="en-US" sz="1400" dirty="0">
                <a:solidFill>
                  <a:srgbClr val="F2F2F2"/>
                </a:solidFill>
                <a:latin typeface="Calibri"/>
              </a:rPr>
              <a:t>7</a:t>
            </a:r>
            <a:r>
              <a:rPr sz="1400" dirty="0">
                <a:solidFill>
                  <a:srgbClr val="F2F2F2"/>
                </a:solidFill>
                <a:latin typeface="Calibri"/>
              </a:rPr>
              <a:t>6 → thousands of windows per epoch.</a:t>
            </a:r>
          </a:p>
          <a:p>
            <a:pPr algn="l">
              <a:lnSpc>
                <a:spcPct val="150000"/>
              </a:lnSpc>
            </a:pPr>
            <a:r>
              <a:rPr sz="1400" b="1" dirty="0">
                <a:solidFill>
                  <a:srgbClr val="F5A623"/>
                </a:solidFill>
                <a:latin typeface="Calibri"/>
              </a:rPr>
              <a:t>▸ </a:t>
            </a:r>
            <a:r>
              <a:rPr sz="1400" dirty="0">
                <a:solidFill>
                  <a:srgbClr val="F2F2F2"/>
                </a:solidFill>
                <a:latin typeface="Calibri"/>
              </a:rPr>
              <a:t>Weights stay moderate: 0.93 · 0.66 · 2.40.</a:t>
            </a:r>
          </a:p>
        </p:txBody>
      </p:sp>
      <p:sp>
        <p:nvSpPr>
          <p:cNvPr id="15" name="TextBox 14"/>
          <p:cNvSpPr txBox="1"/>
          <p:nvPr/>
        </p:nvSpPr>
        <p:spPr>
          <a:xfrm>
            <a:off x="457200" y="6446520"/>
            <a:ext cx="7315200" cy="274320"/>
          </a:xfrm>
          <a:prstGeom prst="rect">
            <a:avLst/>
          </a:prstGeom>
          <a:noFill/>
        </p:spPr>
        <p:txBody>
          <a:bodyPr wrap="square" lIns="0" tIns="0" rIns="0" bIns="0" anchor="t">
            <a:spAutoFit/>
          </a:bodyPr>
          <a:lstStyle/>
          <a:p>
            <a:pPr algn="l"/>
            <a:r>
              <a:rPr sz="1000" b="0" i="0">
                <a:solidFill>
                  <a:srgbClr val="6F737C"/>
                </a:solidFill>
                <a:latin typeface="Calibri"/>
              </a:rPr>
              <a:t>Bee Behavior Recognition — Master's Thesis Defense</a:t>
            </a:r>
          </a:p>
        </p:txBody>
      </p:sp>
      <p:sp>
        <p:nvSpPr>
          <p:cNvPr id="16" name="TextBox 15"/>
          <p:cNvSpPr txBox="1"/>
          <p:nvPr/>
        </p:nvSpPr>
        <p:spPr>
          <a:xfrm>
            <a:off x="10789920" y="6446520"/>
            <a:ext cx="914400" cy="153888"/>
          </a:xfrm>
          <a:prstGeom prst="rect">
            <a:avLst/>
          </a:prstGeom>
          <a:noFill/>
        </p:spPr>
        <p:txBody>
          <a:bodyPr wrap="square" lIns="0" tIns="0" rIns="0" bIns="0" anchor="t">
            <a:spAutoFit/>
          </a:bodyPr>
          <a:lstStyle/>
          <a:p>
            <a:pPr algn="r"/>
            <a:r>
              <a:rPr sz="1000" b="0" i="0" dirty="0">
                <a:solidFill>
                  <a:srgbClr val="6F737C"/>
                </a:solidFill>
                <a:latin typeface="Calibri"/>
              </a:rPr>
              <a:t>6 / </a:t>
            </a:r>
            <a:r>
              <a:rPr lang="en-US" sz="1000" b="0" i="0" dirty="0">
                <a:solidFill>
                  <a:srgbClr val="6F737C"/>
                </a:solidFill>
                <a:latin typeface="Calibri"/>
              </a:rPr>
              <a:t>13</a:t>
            </a:r>
            <a:endParaRPr sz="1000" b="0" i="0" dirty="0">
              <a:solidFill>
                <a:srgbClr val="6F737C"/>
              </a:solidFill>
              <a:latin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416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57200" y="411480"/>
            <a:ext cx="320040" cy="54864"/>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502920"/>
            <a:ext cx="11247120" cy="430887"/>
          </a:xfrm>
          <a:prstGeom prst="rect">
            <a:avLst/>
          </a:prstGeom>
          <a:noFill/>
        </p:spPr>
        <p:txBody>
          <a:bodyPr wrap="square" lIns="0" tIns="0" rIns="0" bIns="0" anchor="t">
            <a:spAutoFit/>
          </a:bodyPr>
          <a:lstStyle/>
          <a:p>
            <a:pPr algn="l"/>
            <a:r>
              <a:rPr lang="en-US" sz="2800" b="1" i="0" dirty="0">
                <a:solidFill>
                  <a:srgbClr val="F2F2F2"/>
                </a:solidFill>
                <a:latin typeface="Calibri"/>
              </a:rPr>
              <a:t>TRACKING &amp;</a:t>
            </a:r>
            <a:r>
              <a:rPr sz="2800" b="1" i="0" dirty="0">
                <a:solidFill>
                  <a:srgbClr val="F2F2F2"/>
                </a:solidFill>
                <a:latin typeface="Calibri"/>
              </a:rPr>
              <a:t> </a:t>
            </a:r>
            <a:r>
              <a:rPr lang="en-US" sz="2800" b="1" i="0" dirty="0">
                <a:solidFill>
                  <a:srgbClr val="F2F2F2"/>
                </a:solidFill>
                <a:latin typeface="Calibri"/>
              </a:rPr>
              <a:t>FEATURE EXTRACTION</a:t>
            </a:r>
            <a:endParaRPr sz="2800" b="1" i="0" dirty="0">
              <a:solidFill>
                <a:srgbClr val="F2F2F2"/>
              </a:solidFill>
              <a:latin typeface="Calibri"/>
            </a:endParaRPr>
          </a:p>
        </p:txBody>
      </p:sp>
      <p:sp>
        <p:nvSpPr>
          <p:cNvPr id="6" name="Rounded Rectangle 5"/>
          <p:cNvSpPr/>
          <p:nvPr/>
        </p:nvSpPr>
        <p:spPr>
          <a:xfrm>
            <a:off x="457200" y="1508760"/>
            <a:ext cx="4846320" cy="4846320"/>
          </a:xfrm>
          <a:prstGeom prst="roundRect">
            <a:avLst>
              <a:gd name="adj" fmla="val 5000"/>
            </a:avLst>
          </a:prstGeom>
          <a:solidFill>
            <a:srgbClr val="1F2229"/>
          </a:solidFill>
          <a:ln w="9525">
            <a:solidFill>
              <a:srgbClr val="B87B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79120" y="1627632"/>
            <a:ext cx="4572000" cy="2925673"/>
          </a:xfrm>
          <a:prstGeom prst="rect">
            <a:avLst/>
          </a:prstGeom>
          <a:noFill/>
        </p:spPr>
        <p:txBody>
          <a:bodyPr wrap="square" lIns="0" tIns="0" rIns="0" bIns="0">
            <a:spAutoFit/>
          </a:bodyPr>
          <a:lstStyle/>
          <a:p>
            <a:pPr>
              <a:lnSpc>
                <a:spcPct val="135000"/>
              </a:lnSpc>
            </a:pPr>
            <a:r>
              <a:rPr lang="en-US" b="1" dirty="0">
                <a:solidFill>
                  <a:srgbClr val="F5A623"/>
                </a:solidFill>
              </a:rPr>
              <a:t>TRACKING (BYTETRACKER)</a:t>
            </a:r>
          </a:p>
          <a:p>
            <a:pPr algn="l">
              <a:lnSpc>
                <a:spcPct val="135000"/>
              </a:lnSpc>
            </a:pPr>
            <a:endParaRPr lang="en-US" sz="1600" b="1" dirty="0">
              <a:solidFill>
                <a:srgbClr val="F5A623"/>
              </a:solidFill>
              <a:latin typeface="Calibri"/>
            </a:endParaRPr>
          </a:p>
          <a:p>
            <a:pPr algn="l">
              <a:lnSpc>
                <a:spcPct val="150000"/>
              </a:lnSpc>
            </a:pPr>
            <a:r>
              <a:rPr sz="1600" b="1" dirty="0">
                <a:solidFill>
                  <a:srgbClr val="F5A623"/>
                </a:solidFill>
                <a:latin typeface="Calibri"/>
              </a:rPr>
              <a:t>▸ </a:t>
            </a:r>
            <a:r>
              <a:rPr sz="1600" dirty="0">
                <a:solidFill>
                  <a:srgbClr val="F2F2F2"/>
                </a:solidFill>
                <a:latin typeface="Calibri"/>
              </a:rPr>
              <a:t>Two-round </a:t>
            </a:r>
            <a:r>
              <a:rPr sz="1600" dirty="0" err="1">
                <a:solidFill>
                  <a:srgbClr val="F2F2F2"/>
                </a:solidFill>
                <a:latin typeface="Calibri"/>
              </a:rPr>
              <a:t>IoU</a:t>
            </a:r>
            <a:r>
              <a:rPr sz="1600" dirty="0">
                <a:solidFill>
                  <a:srgbClr val="F2F2F2"/>
                </a:solidFill>
                <a:latin typeface="Calibri"/>
              </a:rPr>
              <a:t> matching: high-conf first, low-conf to recover occluded bees.</a:t>
            </a:r>
          </a:p>
          <a:p>
            <a:pPr algn="l">
              <a:lnSpc>
                <a:spcPct val="150000"/>
              </a:lnSpc>
            </a:pPr>
            <a:r>
              <a:rPr sz="1600" b="1" dirty="0">
                <a:solidFill>
                  <a:srgbClr val="F5A623"/>
                </a:solidFill>
                <a:latin typeface="Calibri"/>
              </a:rPr>
              <a:t>▸ </a:t>
            </a:r>
            <a:r>
              <a:rPr sz="1600" dirty="0">
                <a:solidFill>
                  <a:srgbClr val="F2F2F2"/>
                </a:solidFill>
                <a:latin typeface="Calibri"/>
              </a:rPr>
              <a:t>Kalman filter propagates positions between frames.</a:t>
            </a:r>
          </a:p>
          <a:p>
            <a:pPr algn="l">
              <a:lnSpc>
                <a:spcPct val="150000"/>
              </a:lnSpc>
            </a:pPr>
            <a:r>
              <a:rPr sz="1600" b="1" dirty="0">
                <a:solidFill>
                  <a:srgbClr val="F5A623"/>
                </a:solidFill>
                <a:latin typeface="Calibri"/>
              </a:rPr>
              <a:t>▸ </a:t>
            </a:r>
            <a:r>
              <a:rPr sz="1600" dirty="0">
                <a:solidFill>
                  <a:srgbClr val="F2F2F2"/>
                </a:solidFill>
                <a:latin typeface="Calibri"/>
              </a:rPr>
              <a:t>Tracks unmatched for 30 frames are dropped.</a:t>
            </a:r>
          </a:p>
          <a:p>
            <a:pPr algn="l">
              <a:lnSpc>
                <a:spcPct val="150000"/>
              </a:lnSpc>
            </a:pPr>
            <a:r>
              <a:rPr sz="1600" b="1" dirty="0">
                <a:solidFill>
                  <a:srgbClr val="F5A623"/>
                </a:solidFill>
                <a:latin typeface="Calibri"/>
              </a:rPr>
              <a:t>▸ </a:t>
            </a:r>
            <a:r>
              <a:rPr sz="1600" dirty="0">
                <a:solidFill>
                  <a:srgbClr val="F2F2F2"/>
                </a:solidFill>
                <a:latin typeface="Calibri"/>
              </a:rPr>
              <a:t>Result: </a:t>
            </a:r>
            <a:r>
              <a:rPr lang="en-US" sz="1600" dirty="0">
                <a:solidFill>
                  <a:srgbClr val="F2F2F2"/>
                </a:solidFill>
                <a:latin typeface="Calibri"/>
              </a:rPr>
              <a:t>S</a:t>
            </a:r>
            <a:r>
              <a:rPr sz="1600" dirty="0">
                <a:solidFill>
                  <a:srgbClr val="F2F2F2"/>
                </a:solidFill>
                <a:latin typeface="Calibri"/>
              </a:rPr>
              <a:t>ame physical bee </a:t>
            </a:r>
            <a:r>
              <a:rPr lang="en-US" sz="1600" dirty="0">
                <a:solidFill>
                  <a:srgbClr val="F2F2F2"/>
                </a:solidFill>
                <a:latin typeface="Calibri"/>
              </a:rPr>
              <a:t>-&gt;</a:t>
            </a:r>
            <a:r>
              <a:rPr sz="1600" dirty="0">
                <a:solidFill>
                  <a:srgbClr val="F2F2F2"/>
                </a:solidFill>
                <a:latin typeface="Calibri"/>
              </a:rPr>
              <a:t> same persistent ID = same feature buffer.</a:t>
            </a:r>
          </a:p>
        </p:txBody>
      </p:sp>
      <p:sp>
        <p:nvSpPr>
          <p:cNvPr id="10" name="Rounded Rectangle 9"/>
          <p:cNvSpPr/>
          <p:nvPr/>
        </p:nvSpPr>
        <p:spPr>
          <a:xfrm>
            <a:off x="5669280" y="1544777"/>
            <a:ext cx="6126480" cy="4846320"/>
          </a:xfrm>
          <a:prstGeom prst="roundRect">
            <a:avLst>
              <a:gd name="adj" fmla="val 5000"/>
            </a:avLst>
          </a:prstGeom>
          <a:solidFill>
            <a:srgbClr val="1F2229"/>
          </a:solidFill>
          <a:ln w="952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852160" y="1627632"/>
            <a:ext cx="5760720" cy="2513188"/>
          </a:xfrm>
          <a:prstGeom prst="rect">
            <a:avLst/>
          </a:prstGeom>
          <a:noFill/>
        </p:spPr>
        <p:txBody>
          <a:bodyPr wrap="square" lIns="0" tIns="0" rIns="0" bIns="0">
            <a:spAutoFit/>
          </a:bodyPr>
          <a:lstStyle/>
          <a:p>
            <a:pPr>
              <a:lnSpc>
                <a:spcPct val="135000"/>
              </a:lnSpc>
            </a:pPr>
            <a:r>
              <a:rPr lang="en-US" b="1" dirty="0">
                <a:solidFill>
                  <a:srgbClr val="F5A623"/>
                </a:solidFill>
              </a:rPr>
              <a:t>FEATURE EXTRACTION (DINOV2)</a:t>
            </a:r>
          </a:p>
          <a:p>
            <a:pPr algn="l">
              <a:lnSpc>
                <a:spcPct val="135000"/>
              </a:lnSpc>
            </a:pPr>
            <a:endParaRPr lang="en-US" sz="1600" b="1" dirty="0">
              <a:solidFill>
                <a:srgbClr val="F5A623"/>
              </a:solidFill>
              <a:latin typeface="Calibri"/>
            </a:endParaRPr>
          </a:p>
          <a:p>
            <a:pPr algn="l">
              <a:lnSpc>
                <a:spcPct val="150000"/>
              </a:lnSpc>
            </a:pPr>
            <a:r>
              <a:rPr sz="1600" b="1" dirty="0">
                <a:solidFill>
                  <a:srgbClr val="F5A623"/>
                </a:solidFill>
                <a:latin typeface="Calibri"/>
              </a:rPr>
              <a:t>▸ </a:t>
            </a:r>
            <a:r>
              <a:rPr sz="1600" dirty="0">
                <a:solidFill>
                  <a:srgbClr val="F2F2F2"/>
                </a:solidFill>
                <a:latin typeface="Calibri"/>
              </a:rPr>
              <a:t>Crop with 35% padding (context for trophallaxis + fanning location).</a:t>
            </a:r>
          </a:p>
          <a:p>
            <a:pPr algn="l">
              <a:lnSpc>
                <a:spcPct val="150000"/>
              </a:lnSpc>
            </a:pPr>
            <a:r>
              <a:rPr sz="1600" b="1" dirty="0">
                <a:solidFill>
                  <a:srgbClr val="F5A623"/>
                </a:solidFill>
                <a:latin typeface="Calibri"/>
              </a:rPr>
              <a:t>▸ </a:t>
            </a:r>
            <a:r>
              <a:rPr sz="1600" dirty="0">
                <a:solidFill>
                  <a:srgbClr val="F2F2F2"/>
                </a:solidFill>
                <a:latin typeface="Calibri"/>
              </a:rPr>
              <a:t>Resize 224×224, ImageNet normalize.</a:t>
            </a:r>
          </a:p>
          <a:p>
            <a:pPr algn="l">
              <a:lnSpc>
                <a:spcPct val="150000"/>
              </a:lnSpc>
            </a:pPr>
            <a:r>
              <a:rPr sz="1600" b="1" dirty="0">
                <a:solidFill>
                  <a:srgbClr val="F5A623"/>
                </a:solidFill>
                <a:latin typeface="Calibri"/>
              </a:rPr>
              <a:t>▸ </a:t>
            </a:r>
            <a:r>
              <a:rPr sz="1600" dirty="0">
                <a:solidFill>
                  <a:srgbClr val="F2F2F2"/>
                </a:solidFill>
                <a:latin typeface="Calibri"/>
              </a:rPr>
              <a:t>Forward through frozen DINOv2-small (21.7M params).</a:t>
            </a:r>
          </a:p>
          <a:p>
            <a:pPr algn="l">
              <a:lnSpc>
                <a:spcPct val="150000"/>
              </a:lnSpc>
            </a:pPr>
            <a:r>
              <a:rPr sz="1600" b="1" dirty="0">
                <a:solidFill>
                  <a:srgbClr val="F5A623"/>
                </a:solidFill>
                <a:latin typeface="Calibri"/>
              </a:rPr>
              <a:t>▸ </a:t>
            </a:r>
            <a:r>
              <a:rPr sz="1600" dirty="0">
                <a:solidFill>
                  <a:srgbClr val="F2F2F2"/>
                </a:solidFill>
                <a:latin typeface="Calibri"/>
              </a:rPr>
              <a:t>Output = CLS (384) </a:t>
            </a:r>
            <a:r>
              <a:rPr lang="en-US" sz="1600" dirty="0">
                <a:solidFill>
                  <a:srgbClr val="F2F2F2"/>
                </a:solidFill>
                <a:latin typeface="Calibri"/>
              </a:rPr>
              <a:t>+</a:t>
            </a:r>
            <a:r>
              <a:rPr sz="1600" dirty="0">
                <a:solidFill>
                  <a:srgbClr val="F2F2F2"/>
                </a:solidFill>
                <a:latin typeface="Calibri"/>
              </a:rPr>
              <a:t> mean of patch tokens (384) = 768-d.</a:t>
            </a:r>
          </a:p>
        </p:txBody>
      </p:sp>
      <p:sp>
        <p:nvSpPr>
          <p:cNvPr id="14" name="TextBox 13"/>
          <p:cNvSpPr txBox="1"/>
          <p:nvPr/>
        </p:nvSpPr>
        <p:spPr>
          <a:xfrm>
            <a:off x="5852160" y="4846320"/>
            <a:ext cx="5760720" cy="1077218"/>
          </a:xfrm>
          <a:prstGeom prst="rect">
            <a:avLst/>
          </a:prstGeom>
          <a:noFill/>
        </p:spPr>
        <p:txBody>
          <a:bodyPr wrap="square" lIns="0" tIns="0" rIns="0" bIns="0" anchor="t">
            <a:spAutoFit/>
          </a:bodyPr>
          <a:lstStyle/>
          <a:p>
            <a:r>
              <a:rPr lang="en-US" sz="1400" b="1" dirty="0">
                <a:solidFill>
                  <a:srgbClr val="F5A623"/>
                </a:solidFill>
              </a:rPr>
              <a:t>WHY 35% PADDING?</a:t>
            </a:r>
          </a:p>
          <a:p>
            <a:pPr algn="l"/>
            <a:endParaRPr lang="en-US" sz="1400" b="0" i="0" dirty="0">
              <a:solidFill>
                <a:srgbClr val="F2F2F2"/>
              </a:solidFill>
              <a:latin typeface="Calibri"/>
            </a:endParaRPr>
          </a:p>
          <a:p>
            <a:pPr algn="l"/>
            <a:r>
              <a:rPr sz="1400" b="0" i="0" dirty="0">
                <a:solidFill>
                  <a:srgbClr val="F2F2F2"/>
                </a:solidFill>
                <a:latin typeface="Calibri"/>
              </a:rPr>
              <a:t>Tight crops discard the very cues the model needs — for trophallaxis, the neighbor bee must be visible. For fanning, substrate texture shows location context.</a:t>
            </a:r>
          </a:p>
        </p:txBody>
      </p:sp>
      <p:sp>
        <p:nvSpPr>
          <p:cNvPr id="15" name="TextBox 14"/>
          <p:cNvSpPr txBox="1"/>
          <p:nvPr/>
        </p:nvSpPr>
        <p:spPr>
          <a:xfrm>
            <a:off x="457200" y="6446520"/>
            <a:ext cx="7315200" cy="274320"/>
          </a:xfrm>
          <a:prstGeom prst="rect">
            <a:avLst/>
          </a:prstGeom>
          <a:noFill/>
        </p:spPr>
        <p:txBody>
          <a:bodyPr wrap="square" lIns="0" tIns="0" rIns="0" bIns="0" anchor="t">
            <a:spAutoFit/>
          </a:bodyPr>
          <a:lstStyle/>
          <a:p>
            <a:pPr algn="l"/>
            <a:r>
              <a:rPr sz="1000" b="0" i="0">
                <a:solidFill>
                  <a:srgbClr val="6F737C"/>
                </a:solidFill>
                <a:latin typeface="Calibri"/>
              </a:rPr>
              <a:t>Bee Behavior Recognition — Master's Thesis Defense</a:t>
            </a:r>
          </a:p>
        </p:txBody>
      </p:sp>
      <p:sp>
        <p:nvSpPr>
          <p:cNvPr id="16" name="TextBox 15"/>
          <p:cNvSpPr txBox="1"/>
          <p:nvPr/>
        </p:nvSpPr>
        <p:spPr>
          <a:xfrm>
            <a:off x="10789920" y="6446520"/>
            <a:ext cx="914400" cy="153888"/>
          </a:xfrm>
          <a:prstGeom prst="rect">
            <a:avLst/>
          </a:prstGeom>
          <a:noFill/>
        </p:spPr>
        <p:txBody>
          <a:bodyPr wrap="square" lIns="0" tIns="0" rIns="0" bIns="0" anchor="t">
            <a:spAutoFit/>
          </a:bodyPr>
          <a:lstStyle/>
          <a:p>
            <a:pPr algn="r"/>
            <a:r>
              <a:rPr sz="1000" b="0" i="0" dirty="0">
                <a:solidFill>
                  <a:srgbClr val="6F737C"/>
                </a:solidFill>
                <a:latin typeface="Calibri"/>
              </a:rPr>
              <a:t>7 / </a:t>
            </a:r>
            <a:r>
              <a:rPr lang="en-US" sz="1000" b="0" i="0" dirty="0">
                <a:solidFill>
                  <a:srgbClr val="6F737C"/>
                </a:solidFill>
                <a:latin typeface="Calibri"/>
              </a:rPr>
              <a:t>13</a:t>
            </a:r>
            <a:endParaRPr sz="1000" b="0" i="0" dirty="0">
              <a:solidFill>
                <a:srgbClr val="6F737C"/>
              </a:solidFill>
              <a:latin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416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57200" y="411480"/>
            <a:ext cx="320040" cy="54864"/>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502920"/>
            <a:ext cx="11247120" cy="430887"/>
          </a:xfrm>
          <a:prstGeom prst="rect">
            <a:avLst/>
          </a:prstGeom>
          <a:noFill/>
        </p:spPr>
        <p:txBody>
          <a:bodyPr wrap="square" lIns="0" tIns="0" rIns="0" bIns="0" anchor="t">
            <a:spAutoFit/>
          </a:bodyPr>
          <a:lstStyle/>
          <a:p>
            <a:pPr algn="l"/>
            <a:r>
              <a:rPr lang="en-US" sz="2800" b="1" i="0" dirty="0">
                <a:solidFill>
                  <a:srgbClr val="F2F2F2"/>
                </a:solidFill>
                <a:latin typeface="Calibri"/>
              </a:rPr>
              <a:t>TEMPORAL SEQUENCE CLASSIFIER</a:t>
            </a:r>
            <a:endParaRPr sz="2800" b="1" i="0" dirty="0">
              <a:solidFill>
                <a:srgbClr val="F2F2F2"/>
              </a:solidFill>
              <a:latin typeface="Calibri"/>
            </a:endParaRPr>
          </a:p>
        </p:txBody>
      </p:sp>
      <p:pic>
        <p:nvPicPr>
          <p:cNvPr id="6" name="Picture 5" descr="fig_3_5_classifier.png"/>
          <p:cNvPicPr>
            <a:picLocks noChangeAspect="1"/>
          </p:cNvPicPr>
          <p:nvPr/>
        </p:nvPicPr>
        <p:blipFill>
          <a:blip r:embed="rId2"/>
          <a:stretch>
            <a:fillRect/>
          </a:stretch>
        </p:blipFill>
        <p:spPr>
          <a:xfrm>
            <a:off x="1239012" y="950360"/>
            <a:ext cx="3557016" cy="5479607"/>
          </a:xfrm>
          <a:prstGeom prst="rect">
            <a:avLst/>
          </a:prstGeom>
        </p:spPr>
      </p:pic>
      <p:sp>
        <p:nvSpPr>
          <p:cNvPr id="8" name="TextBox 7"/>
          <p:cNvSpPr txBox="1"/>
          <p:nvPr/>
        </p:nvSpPr>
        <p:spPr>
          <a:xfrm>
            <a:off x="6035040" y="1235558"/>
            <a:ext cx="5760720" cy="646331"/>
          </a:xfrm>
          <a:prstGeom prst="rect">
            <a:avLst/>
          </a:prstGeom>
          <a:noFill/>
        </p:spPr>
        <p:txBody>
          <a:bodyPr wrap="square" lIns="0" tIns="0" rIns="0" bIns="0" anchor="t">
            <a:spAutoFit/>
          </a:bodyPr>
          <a:lstStyle/>
          <a:p>
            <a:r>
              <a:rPr lang="en-US" sz="1400" b="1" dirty="0">
                <a:solidFill>
                  <a:srgbClr val="F5A623"/>
                </a:solidFill>
              </a:rPr>
              <a:t>INTUITION</a:t>
            </a:r>
          </a:p>
          <a:p>
            <a:pPr algn="l"/>
            <a:endParaRPr lang="en-US" sz="1400" b="1" i="0" dirty="0">
              <a:solidFill>
                <a:srgbClr val="F2F2F2"/>
              </a:solidFill>
              <a:latin typeface="Calibri"/>
            </a:endParaRPr>
          </a:p>
          <a:p>
            <a:pPr algn="l"/>
            <a:r>
              <a:rPr sz="1400" b="1" i="0" dirty="0">
                <a:solidFill>
                  <a:srgbClr val="F2F2F2"/>
                </a:solidFill>
                <a:latin typeface="Calibri"/>
              </a:rPr>
              <a:t>Self-attention — every frame attends to every other frame.</a:t>
            </a:r>
          </a:p>
        </p:txBody>
      </p:sp>
      <p:sp>
        <p:nvSpPr>
          <p:cNvPr id="10" name="TextBox 9"/>
          <p:cNvSpPr txBox="1"/>
          <p:nvPr/>
        </p:nvSpPr>
        <p:spPr>
          <a:xfrm>
            <a:off x="6035040" y="2032410"/>
            <a:ext cx="5760720" cy="246221"/>
          </a:xfrm>
          <a:prstGeom prst="rect">
            <a:avLst/>
          </a:prstGeom>
          <a:noFill/>
        </p:spPr>
        <p:txBody>
          <a:bodyPr wrap="square" lIns="0" tIns="0" rIns="0" bIns="0" anchor="t">
            <a:spAutoFit/>
          </a:bodyPr>
          <a:lstStyle/>
          <a:p>
            <a:pPr algn="l"/>
            <a:r>
              <a:rPr sz="1600" b="1" i="0" dirty="0">
                <a:solidFill>
                  <a:srgbClr val="F5A623"/>
                </a:solidFill>
                <a:latin typeface="Calibri"/>
              </a:rPr>
              <a:t>FORWARD PASS</a:t>
            </a:r>
          </a:p>
        </p:txBody>
      </p:sp>
      <p:sp>
        <p:nvSpPr>
          <p:cNvPr id="11" name="Rounded Rectangle 10"/>
          <p:cNvSpPr/>
          <p:nvPr/>
        </p:nvSpPr>
        <p:spPr>
          <a:xfrm>
            <a:off x="6035040" y="2324351"/>
            <a:ext cx="5760720" cy="1463040"/>
          </a:xfrm>
          <a:prstGeom prst="roundRect">
            <a:avLst>
              <a:gd name="adj" fmla="val 5000"/>
            </a:avLst>
          </a:prstGeom>
          <a:solidFill>
            <a:srgbClr val="1F22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095847" y="2358650"/>
            <a:ext cx="5486400" cy="1800493"/>
          </a:xfrm>
          <a:prstGeom prst="rect">
            <a:avLst/>
          </a:prstGeom>
          <a:noFill/>
        </p:spPr>
        <p:txBody>
          <a:bodyPr wrap="square" lIns="0" tIns="0" rIns="0" bIns="0" anchor="t">
            <a:spAutoFit/>
          </a:bodyPr>
          <a:lstStyle/>
          <a:p>
            <a:pPr algn="l">
              <a:lnSpc>
                <a:spcPct val="150000"/>
              </a:lnSpc>
            </a:pPr>
            <a:r>
              <a:rPr sz="1400" b="1" i="0" dirty="0">
                <a:solidFill>
                  <a:srgbClr val="F2F2F2"/>
                </a:solidFill>
                <a:latin typeface="Consolas"/>
              </a:rPr>
              <a:t>X' = [c, x₁, …, x₁₆] + P</a:t>
            </a:r>
            <a:endParaRPr lang="en-US" sz="1400" b="1" i="0" dirty="0">
              <a:solidFill>
                <a:srgbClr val="F2F2F2"/>
              </a:solidFill>
              <a:latin typeface="Consolas"/>
            </a:endParaRPr>
          </a:p>
          <a:p>
            <a:pPr>
              <a:lnSpc>
                <a:spcPct val="150000"/>
              </a:lnSpc>
            </a:pPr>
            <a:r>
              <a:rPr lang="pl-PL" sz="1400" b="1" dirty="0">
                <a:solidFill>
                  <a:srgbClr val="F2F2F2"/>
                </a:solidFill>
                <a:latin typeface="Consolas"/>
              </a:rPr>
              <a:t>Z  = X' + MHA(LN(X’))</a:t>
            </a:r>
            <a:endParaRPr lang="en-US" sz="1400" b="1" dirty="0">
              <a:solidFill>
                <a:srgbClr val="F2F2F2"/>
              </a:solidFill>
              <a:latin typeface="Consolas"/>
            </a:endParaRPr>
          </a:p>
          <a:p>
            <a:pPr>
              <a:lnSpc>
                <a:spcPct val="150000"/>
              </a:lnSpc>
            </a:pPr>
            <a:r>
              <a:rPr lang="en-US" sz="1400" b="1" dirty="0">
                <a:solidFill>
                  <a:srgbClr val="F2F2F2"/>
                </a:solidFill>
                <a:latin typeface="Consolas"/>
              </a:rPr>
              <a:t>X' = Z  + FFN(LN(Z)) × 3 layers · 6 heads</a:t>
            </a:r>
          </a:p>
          <a:p>
            <a:pPr>
              <a:lnSpc>
                <a:spcPct val="150000"/>
              </a:lnSpc>
            </a:pPr>
            <a:r>
              <a:rPr lang="cy-GB" sz="1400" b="1" dirty="0">
                <a:solidFill>
                  <a:srgbClr val="F5A623"/>
                </a:solidFill>
                <a:latin typeface="Consolas"/>
              </a:rPr>
              <a:t>ŷ = softmax(MLP(LN(X'[CLS])))</a:t>
            </a:r>
          </a:p>
          <a:p>
            <a:endParaRPr lang="en-US" sz="1100" b="1" dirty="0">
              <a:solidFill>
                <a:srgbClr val="F2F2F2"/>
              </a:solidFill>
              <a:latin typeface="Consolas"/>
            </a:endParaRPr>
          </a:p>
          <a:p>
            <a:endParaRPr lang="pl-PL" sz="1100" b="1" dirty="0">
              <a:solidFill>
                <a:srgbClr val="F2F2F2"/>
              </a:solidFill>
              <a:latin typeface="Consolas"/>
            </a:endParaRPr>
          </a:p>
          <a:p>
            <a:pPr algn="l"/>
            <a:endParaRPr sz="1100" b="1" i="0" dirty="0">
              <a:solidFill>
                <a:srgbClr val="F2F2F2"/>
              </a:solidFill>
              <a:latin typeface="Consolas"/>
            </a:endParaRPr>
          </a:p>
        </p:txBody>
      </p:sp>
      <p:sp>
        <p:nvSpPr>
          <p:cNvPr id="18" name="TextBox 17"/>
          <p:cNvSpPr txBox="1"/>
          <p:nvPr/>
        </p:nvSpPr>
        <p:spPr>
          <a:xfrm>
            <a:off x="6035040" y="3990290"/>
            <a:ext cx="5760720" cy="1581010"/>
          </a:xfrm>
          <a:prstGeom prst="rect">
            <a:avLst/>
          </a:prstGeom>
          <a:noFill/>
        </p:spPr>
        <p:txBody>
          <a:bodyPr wrap="square" lIns="0" tIns="0" rIns="0" bIns="0">
            <a:spAutoFit/>
          </a:bodyPr>
          <a:lstStyle/>
          <a:p>
            <a:pPr>
              <a:lnSpc>
                <a:spcPct val="150000"/>
              </a:lnSpc>
            </a:pPr>
            <a:r>
              <a:rPr lang="en-US" sz="1400" b="1" dirty="0">
                <a:solidFill>
                  <a:srgbClr val="F5A623"/>
                </a:solidFill>
              </a:rPr>
              <a:t>TRAINING — AGGRESSIVE REGULARIZATION (small dataset)</a:t>
            </a:r>
          </a:p>
          <a:p>
            <a:pPr algn="l">
              <a:lnSpc>
                <a:spcPct val="150000"/>
              </a:lnSpc>
            </a:pPr>
            <a:endParaRPr lang="en-US" sz="1400" b="1" dirty="0">
              <a:solidFill>
                <a:srgbClr val="F5A623"/>
              </a:solidFill>
              <a:latin typeface="Calibri"/>
            </a:endParaRPr>
          </a:p>
          <a:p>
            <a:pPr algn="l">
              <a:lnSpc>
                <a:spcPct val="150000"/>
              </a:lnSpc>
            </a:pPr>
            <a:r>
              <a:rPr sz="1400" b="1" dirty="0">
                <a:solidFill>
                  <a:srgbClr val="F5A623"/>
                </a:solidFill>
                <a:latin typeface="Calibri"/>
              </a:rPr>
              <a:t>▸ </a:t>
            </a:r>
            <a:r>
              <a:rPr sz="1400" dirty="0">
                <a:solidFill>
                  <a:srgbClr val="F2F2F2"/>
                </a:solidFill>
                <a:latin typeface="Calibri"/>
              </a:rPr>
              <a:t>Label smoothing — never reward 100% confidence.</a:t>
            </a:r>
          </a:p>
          <a:p>
            <a:pPr algn="l">
              <a:lnSpc>
                <a:spcPct val="150000"/>
              </a:lnSpc>
            </a:pPr>
            <a:r>
              <a:rPr sz="1400" b="1" dirty="0">
                <a:solidFill>
                  <a:srgbClr val="F5A623"/>
                </a:solidFill>
                <a:latin typeface="Calibri"/>
              </a:rPr>
              <a:t>▸ </a:t>
            </a:r>
            <a:r>
              <a:rPr sz="1400" dirty="0" err="1">
                <a:solidFill>
                  <a:srgbClr val="F2F2F2"/>
                </a:solidFill>
                <a:latin typeface="Calibri"/>
              </a:rPr>
              <a:t>MixUp</a:t>
            </a:r>
            <a:r>
              <a:rPr sz="1400" dirty="0">
                <a:solidFill>
                  <a:srgbClr val="F2F2F2"/>
                </a:solidFill>
                <a:latin typeface="Calibri"/>
              </a:rPr>
              <a:t> — blended pairs, smoother decision boundary.</a:t>
            </a:r>
          </a:p>
          <a:p>
            <a:pPr algn="l">
              <a:lnSpc>
                <a:spcPct val="150000"/>
              </a:lnSpc>
            </a:pPr>
            <a:r>
              <a:rPr sz="1400" b="1" dirty="0">
                <a:solidFill>
                  <a:srgbClr val="F5A623"/>
                </a:solidFill>
                <a:latin typeface="Calibri"/>
              </a:rPr>
              <a:t>▸ </a:t>
            </a:r>
            <a:r>
              <a:rPr sz="1400" dirty="0">
                <a:solidFill>
                  <a:srgbClr val="F2F2F2"/>
                </a:solidFill>
                <a:latin typeface="Calibri"/>
              </a:rPr>
              <a:t>R-Drop — penalize disagreement between two dropout passes.</a:t>
            </a:r>
          </a:p>
        </p:txBody>
      </p:sp>
      <p:sp>
        <p:nvSpPr>
          <p:cNvPr id="20" name="TextBox 19"/>
          <p:cNvSpPr txBox="1"/>
          <p:nvPr/>
        </p:nvSpPr>
        <p:spPr>
          <a:xfrm>
            <a:off x="457200" y="6446520"/>
            <a:ext cx="7315200" cy="274320"/>
          </a:xfrm>
          <a:prstGeom prst="rect">
            <a:avLst/>
          </a:prstGeom>
          <a:noFill/>
        </p:spPr>
        <p:txBody>
          <a:bodyPr wrap="square" lIns="0" tIns="0" rIns="0" bIns="0" anchor="t">
            <a:spAutoFit/>
          </a:bodyPr>
          <a:lstStyle/>
          <a:p>
            <a:pPr algn="l"/>
            <a:r>
              <a:rPr sz="1000" b="0" i="0">
                <a:solidFill>
                  <a:srgbClr val="6F737C"/>
                </a:solidFill>
                <a:latin typeface="Calibri"/>
              </a:rPr>
              <a:t>Bee Behavior Recognition — Master's Thesis Defense</a:t>
            </a:r>
          </a:p>
        </p:txBody>
      </p:sp>
      <p:sp>
        <p:nvSpPr>
          <p:cNvPr id="21" name="TextBox 20"/>
          <p:cNvSpPr txBox="1"/>
          <p:nvPr/>
        </p:nvSpPr>
        <p:spPr>
          <a:xfrm>
            <a:off x="10789920" y="6446520"/>
            <a:ext cx="914400" cy="153888"/>
          </a:xfrm>
          <a:prstGeom prst="rect">
            <a:avLst/>
          </a:prstGeom>
          <a:noFill/>
        </p:spPr>
        <p:txBody>
          <a:bodyPr wrap="square" lIns="0" tIns="0" rIns="0" bIns="0" anchor="t">
            <a:spAutoFit/>
          </a:bodyPr>
          <a:lstStyle/>
          <a:p>
            <a:pPr algn="r"/>
            <a:r>
              <a:rPr sz="1000" b="0" i="0" dirty="0">
                <a:solidFill>
                  <a:srgbClr val="6F737C"/>
                </a:solidFill>
                <a:latin typeface="Calibri"/>
              </a:rPr>
              <a:t>8 / 1</a:t>
            </a:r>
            <a:r>
              <a:rPr lang="en-US" sz="1000" b="0" i="0" dirty="0">
                <a:solidFill>
                  <a:srgbClr val="6F737C"/>
                </a:solidFill>
                <a:latin typeface="Calibri"/>
              </a:rPr>
              <a:t>3</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416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57200" y="411480"/>
            <a:ext cx="320040" cy="54864"/>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502920"/>
            <a:ext cx="11247120" cy="430887"/>
          </a:xfrm>
          <a:prstGeom prst="rect">
            <a:avLst/>
          </a:prstGeom>
          <a:noFill/>
        </p:spPr>
        <p:txBody>
          <a:bodyPr wrap="square" lIns="0" tIns="0" rIns="0" bIns="0" anchor="t">
            <a:spAutoFit/>
          </a:bodyPr>
          <a:lstStyle/>
          <a:p>
            <a:pPr algn="l"/>
            <a:r>
              <a:rPr lang="en-US" sz="2800" b="1" i="0" dirty="0">
                <a:solidFill>
                  <a:srgbClr val="F2F2F2"/>
                </a:solidFill>
                <a:latin typeface="Calibri"/>
              </a:rPr>
              <a:t>RESULTS</a:t>
            </a:r>
            <a:r>
              <a:rPr sz="2800" b="1" i="0" dirty="0">
                <a:solidFill>
                  <a:srgbClr val="F2F2F2"/>
                </a:solidFill>
                <a:latin typeface="Calibri"/>
              </a:rPr>
              <a:t> · </a:t>
            </a:r>
            <a:r>
              <a:rPr lang="en-US" sz="2800" b="1" i="0" dirty="0">
                <a:solidFill>
                  <a:srgbClr val="F2F2F2"/>
                </a:solidFill>
                <a:latin typeface="Calibri"/>
              </a:rPr>
              <a:t>ISOLATED CLASSIFIER</a:t>
            </a:r>
            <a:endParaRPr sz="2800" b="1" i="0" dirty="0">
              <a:solidFill>
                <a:srgbClr val="F2F2F2"/>
              </a:solidFill>
              <a:latin typeface="Calibri"/>
            </a:endParaRPr>
          </a:p>
        </p:txBody>
      </p:sp>
      <p:graphicFrame>
        <p:nvGraphicFramePr>
          <p:cNvPr id="6" name="Table 5"/>
          <p:cNvGraphicFramePr>
            <a:graphicFrameLocks noGrp="1"/>
          </p:cNvGraphicFramePr>
          <p:nvPr>
            <p:extLst>
              <p:ext uri="{D42A27DB-BD31-4B8C-83A1-F6EECF244321}">
                <p14:modId xmlns:p14="http://schemas.microsoft.com/office/powerpoint/2010/main" val="2806742735"/>
              </p:ext>
            </p:extLst>
          </p:nvPr>
        </p:nvGraphicFramePr>
        <p:xfrm>
          <a:off x="457200" y="1269897"/>
          <a:ext cx="6217920" cy="3108960"/>
        </p:xfrm>
        <a:graphic>
          <a:graphicData uri="http://schemas.openxmlformats.org/drawingml/2006/table">
            <a:tbl>
              <a:tblPr firstRow="1" bandRow="1">
                <a:tableStyleId>{5C22544A-7EE6-4342-B048-85BDC9FD1C3A}</a:tableStyleId>
              </a:tblPr>
              <a:tblGrid>
                <a:gridCol w="1243584">
                  <a:extLst>
                    <a:ext uri="{9D8B030D-6E8A-4147-A177-3AD203B41FA5}">
                      <a16:colId xmlns:a16="http://schemas.microsoft.com/office/drawing/2014/main" val="20000"/>
                    </a:ext>
                  </a:extLst>
                </a:gridCol>
                <a:gridCol w="1243584">
                  <a:extLst>
                    <a:ext uri="{9D8B030D-6E8A-4147-A177-3AD203B41FA5}">
                      <a16:colId xmlns:a16="http://schemas.microsoft.com/office/drawing/2014/main" val="20001"/>
                    </a:ext>
                  </a:extLst>
                </a:gridCol>
                <a:gridCol w="1243584">
                  <a:extLst>
                    <a:ext uri="{9D8B030D-6E8A-4147-A177-3AD203B41FA5}">
                      <a16:colId xmlns:a16="http://schemas.microsoft.com/office/drawing/2014/main" val="20002"/>
                    </a:ext>
                  </a:extLst>
                </a:gridCol>
                <a:gridCol w="1243584">
                  <a:extLst>
                    <a:ext uri="{9D8B030D-6E8A-4147-A177-3AD203B41FA5}">
                      <a16:colId xmlns:a16="http://schemas.microsoft.com/office/drawing/2014/main" val="20003"/>
                    </a:ext>
                  </a:extLst>
                </a:gridCol>
                <a:gridCol w="1243584">
                  <a:extLst>
                    <a:ext uri="{9D8B030D-6E8A-4147-A177-3AD203B41FA5}">
                      <a16:colId xmlns:a16="http://schemas.microsoft.com/office/drawing/2014/main" val="20004"/>
                    </a:ext>
                  </a:extLst>
                </a:gridCol>
              </a:tblGrid>
              <a:tr h="621792">
                <a:tc>
                  <a:txBody>
                    <a:bodyPr/>
                    <a:lstStyle/>
                    <a:p>
                      <a:pPr algn="ctr"/>
                      <a:r>
                        <a:rPr sz="1500" b="1">
                          <a:solidFill>
                            <a:srgbClr val="14161B"/>
                          </a:solidFill>
                          <a:latin typeface="Calibri"/>
                        </a:rPr>
                        <a:t>Class</a:t>
                      </a:r>
                    </a:p>
                  </a:txBody>
                  <a:tcPr marL="50000" marR="50000" marT="30000" marB="30000">
                    <a:solidFill>
                      <a:srgbClr val="F5A623"/>
                    </a:solidFill>
                  </a:tcPr>
                </a:tc>
                <a:tc>
                  <a:txBody>
                    <a:bodyPr/>
                    <a:lstStyle/>
                    <a:p>
                      <a:pPr algn="ctr"/>
                      <a:r>
                        <a:rPr sz="1500" b="1">
                          <a:solidFill>
                            <a:srgbClr val="14161B"/>
                          </a:solidFill>
                          <a:latin typeface="Calibri"/>
                        </a:rPr>
                        <a:t>Prec.</a:t>
                      </a:r>
                    </a:p>
                  </a:txBody>
                  <a:tcPr marL="50000" marR="50000" marT="30000" marB="30000">
                    <a:solidFill>
                      <a:srgbClr val="F5A623"/>
                    </a:solidFill>
                  </a:tcPr>
                </a:tc>
                <a:tc>
                  <a:txBody>
                    <a:bodyPr/>
                    <a:lstStyle/>
                    <a:p>
                      <a:pPr algn="ctr"/>
                      <a:r>
                        <a:rPr sz="1500" b="1">
                          <a:solidFill>
                            <a:srgbClr val="14161B"/>
                          </a:solidFill>
                          <a:latin typeface="Calibri"/>
                        </a:rPr>
                        <a:t>Recall</a:t>
                      </a:r>
                    </a:p>
                  </a:txBody>
                  <a:tcPr marL="50000" marR="50000" marT="30000" marB="30000">
                    <a:solidFill>
                      <a:srgbClr val="F5A623"/>
                    </a:solidFill>
                  </a:tcPr>
                </a:tc>
                <a:tc>
                  <a:txBody>
                    <a:bodyPr/>
                    <a:lstStyle/>
                    <a:p>
                      <a:pPr algn="ctr"/>
                      <a:r>
                        <a:rPr sz="1500" b="1" dirty="0">
                          <a:solidFill>
                            <a:srgbClr val="14161B"/>
                          </a:solidFill>
                          <a:latin typeface="Calibri"/>
                        </a:rPr>
                        <a:t>F1</a:t>
                      </a:r>
                    </a:p>
                  </a:txBody>
                  <a:tcPr marL="50000" marR="50000" marT="30000" marB="30000">
                    <a:solidFill>
                      <a:srgbClr val="F5A623"/>
                    </a:solidFill>
                  </a:tcPr>
                </a:tc>
                <a:tc>
                  <a:txBody>
                    <a:bodyPr/>
                    <a:lstStyle/>
                    <a:p>
                      <a:pPr algn="ctr"/>
                      <a:r>
                        <a:rPr sz="1500" b="1">
                          <a:solidFill>
                            <a:srgbClr val="14161B"/>
                          </a:solidFill>
                          <a:latin typeface="Calibri"/>
                        </a:rPr>
                        <a:t>Support</a:t>
                      </a:r>
                    </a:p>
                  </a:txBody>
                  <a:tcPr marL="50000" marR="50000" marT="30000" marB="30000">
                    <a:solidFill>
                      <a:srgbClr val="F5A623"/>
                    </a:solidFill>
                  </a:tcPr>
                </a:tc>
                <a:extLst>
                  <a:ext uri="{0D108BD9-81ED-4DB2-BD59-A6C34878D82A}">
                    <a16:rowId xmlns:a16="http://schemas.microsoft.com/office/drawing/2014/main" val="10000"/>
                  </a:ext>
                </a:extLst>
              </a:tr>
              <a:tr h="621792">
                <a:tc>
                  <a:txBody>
                    <a:bodyPr/>
                    <a:lstStyle/>
                    <a:p>
                      <a:pPr algn="ctr"/>
                      <a:r>
                        <a:rPr sz="1500" b="0">
                          <a:solidFill>
                            <a:srgbClr val="F2F2F2"/>
                          </a:solidFill>
                          <a:latin typeface="Calibri"/>
                        </a:rPr>
                        <a:t>Fanning</a:t>
                      </a:r>
                    </a:p>
                  </a:txBody>
                  <a:tcPr marL="50000" marR="50000" marT="30000" marB="30000">
                    <a:solidFill>
                      <a:srgbClr val="1F2229"/>
                    </a:solidFill>
                  </a:tcPr>
                </a:tc>
                <a:tc>
                  <a:txBody>
                    <a:bodyPr/>
                    <a:lstStyle/>
                    <a:p>
                      <a:pPr algn="ctr"/>
                      <a:r>
                        <a:rPr sz="1500" b="0">
                          <a:solidFill>
                            <a:srgbClr val="F2F2F2"/>
                          </a:solidFill>
                          <a:latin typeface="Calibri"/>
                        </a:rPr>
                        <a:t>1.00</a:t>
                      </a:r>
                    </a:p>
                  </a:txBody>
                  <a:tcPr marL="50000" marR="50000" marT="30000" marB="30000">
                    <a:solidFill>
                      <a:srgbClr val="1F2229"/>
                    </a:solidFill>
                  </a:tcPr>
                </a:tc>
                <a:tc>
                  <a:txBody>
                    <a:bodyPr/>
                    <a:lstStyle/>
                    <a:p>
                      <a:pPr algn="ctr"/>
                      <a:r>
                        <a:rPr sz="1500" b="0">
                          <a:solidFill>
                            <a:srgbClr val="F2F2F2"/>
                          </a:solidFill>
                          <a:latin typeface="Calibri"/>
                        </a:rPr>
                        <a:t>0.95</a:t>
                      </a:r>
                    </a:p>
                  </a:txBody>
                  <a:tcPr marL="50000" marR="50000" marT="30000" marB="30000">
                    <a:solidFill>
                      <a:srgbClr val="1F2229"/>
                    </a:solidFill>
                  </a:tcPr>
                </a:tc>
                <a:tc>
                  <a:txBody>
                    <a:bodyPr/>
                    <a:lstStyle/>
                    <a:p>
                      <a:pPr algn="ctr"/>
                      <a:r>
                        <a:rPr sz="1500" b="1">
                          <a:solidFill>
                            <a:srgbClr val="6AC87E"/>
                          </a:solidFill>
                          <a:latin typeface="Calibri"/>
                        </a:rPr>
                        <a:t>0.97</a:t>
                      </a:r>
                    </a:p>
                  </a:txBody>
                  <a:tcPr marL="50000" marR="50000" marT="30000" marB="30000">
                    <a:solidFill>
                      <a:srgbClr val="1F2229"/>
                    </a:solidFill>
                  </a:tcPr>
                </a:tc>
                <a:tc>
                  <a:txBody>
                    <a:bodyPr/>
                    <a:lstStyle/>
                    <a:p>
                      <a:pPr algn="ctr"/>
                      <a:r>
                        <a:rPr sz="1500" b="0">
                          <a:solidFill>
                            <a:srgbClr val="F2F2F2"/>
                          </a:solidFill>
                          <a:latin typeface="Calibri"/>
                        </a:rPr>
                        <a:t>1,074</a:t>
                      </a:r>
                    </a:p>
                  </a:txBody>
                  <a:tcPr marL="50000" marR="50000" marT="30000" marB="30000">
                    <a:solidFill>
                      <a:srgbClr val="1F2229"/>
                    </a:solidFill>
                  </a:tcPr>
                </a:tc>
                <a:extLst>
                  <a:ext uri="{0D108BD9-81ED-4DB2-BD59-A6C34878D82A}">
                    <a16:rowId xmlns:a16="http://schemas.microsoft.com/office/drawing/2014/main" val="10001"/>
                  </a:ext>
                </a:extLst>
              </a:tr>
              <a:tr h="621792">
                <a:tc>
                  <a:txBody>
                    <a:bodyPr/>
                    <a:lstStyle/>
                    <a:p>
                      <a:pPr algn="ctr"/>
                      <a:r>
                        <a:rPr sz="1500" b="0">
                          <a:solidFill>
                            <a:srgbClr val="F2F2F2"/>
                          </a:solidFill>
                          <a:latin typeface="Calibri"/>
                        </a:rPr>
                        <a:t>Neutral</a:t>
                      </a:r>
                    </a:p>
                  </a:txBody>
                  <a:tcPr marL="50000" marR="50000" marT="30000" marB="30000">
                    <a:solidFill>
                      <a:srgbClr val="1F2229"/>
                    </a:solidFill>
                  </a:tcPr>
                </a:tc>
                <a:tc>
                  <a:txBody>
                    <a:bodyPr/>
                    <a:lstStyle/>
                    <a:p>
                      <a:pPr algn="ctr"/>
                      <a:r>
                        <a:rPr sz="1500" b="0">
                          <a:solidFill>
                            <a:srgbClr val="F2F2F2"/>
                          </a:solidFill>
                          <a:latin typeface="Calibri"/>
                        </a:rPr>
                        <a:t>0.95</a:t>
                      </a:r>
                    </a:p>
                  </a:txBody>
                  <a:tcPr marL="50000" marR="50000" marT="30000" marB="30000">
                    <a:solidFill>
                      <a:srgbClr val="1F2229"/>
                    </a:solidFill>
                  </a:tcPr>
                </a:tc>
                <a:tc>
                  <a:txBody>
                    <a:bodyPr/>
                    <a:lstStyle/>
                    <a:p>
                      <a:pPr algn="ctr"/>
                      <a:r>
                        <a:rPr sz="1500" b="0">
                          <a:solidFill>
                            <a:srgbClr val="F2F2F2"/>
                          </a:solidFill>
                          <a:latin typeface="Calibri"/>
                        </a:rPr>
                        <a:t>1.00</a:t>
                      </a:r>
                    </a:p>
                  </a:txBody>
                  <a:tcPr marL="50000" marR="50000" marT="30000" marB="30000">
                    <a:solidFill>
                      <a:srgbClr val="1F2229"/>
                    </a:solidFill>
                  </a:tcPr>
                </a:tc>
                <a:tc>
                  <a:txBody>
                    <a:bodyPr/>
                    <a:lstStyle/>
                    <a:p>
                      <a:pPr algn="ctr"/>
                      <a:r>
                        <a:rPr sz="1500" b="1">
                          <a:solidFill>
                            <a:srgbClr val="6AC87E"/>
                          </a:solidFill>
                          <a:latin typeface="Calibri"/>
                        </a:rPr>
                        <a:t>0.97</a:t>
                      </a:r>
                    </a:p>
                  </a:txBody>
                  <a:tcPr marL="50000" marR="50000" marT="30000" marB="30000">
                    <a:solidFill>
                      <a:srgbClr val="1F2229"/>
                    </a:solidFill>
                  </a:tcPr>
                </a:tc>
                <a:tc>
                  <a:txBody>
                    <a:bodyPr/>
                    <a:lstStyle/>
                    <a:p>
                      <a:pPr algn="ctr"/>
                      <a:r>
                        <a:rPr sz="1500" b="0">
                          <a:solidFill>
                            <a:srgbClr val="F2F2F2"/>
                          </a:solidFill>
                          <a:latin typeface="Calibri"/>
                        </a:rPr>
                        <a:t>376</a:t>
                      </a:r>
                    </a:p>
                  </a:txBody>
                  <a:tcPr marL="50000" marR="50000" marT="30000" marB="30000">
                    <a:solidFill>
                      <a:srgbClr val="1F2229"/>
                    </a:solidFill>
                  </a:tcPr>
                </a:tc>
                <a:extLst>
                  <a:ext uri="{0D108BD9-81ED-4DB2-BD59-A6C34878D82A}">
                    <a16:rowId xmlns:a16="http://schemas.microsoft.com/office/drawing/2014/main" val="10002"/>
                  </a:ext>
                </a:extLst>
              </a:tr>
              <a:tr h="621792">
                <a:tc>
                  <a:txBody>
                    <a:bodyPr/>
                    <a:lstStyle/>
                    <a:p>
                      <a:pPr algn="ctr"/>
                      <a:r>
                        <a:rPr sz="1500" b="0">
                          <a:solidFill>
                            <a:srgbClr val="F2F2F2"/>
                          </a:solidFill>
                          <a:latin typeface="Calibri"/>
                        </a:rPr>
                        <a:t>Trophallaxis</a:t>
                      </a:r>
                    </a:p>
                  </a:txBody>
                  <a:tcPr marL="50000" marR="50000" marT="30000" marB="30000">
                    <a:solidFill>
                      <a:srgbClr val="1F2229"/>
                    </a:solidFill>
                  </a:tcPr>
                </a:tc>
                <a:tc>
                  <a:txBody>
                    <a:bodyPr/>
                    <a:lstStyle/>
                    <a:p>
                      <a:pPr algn="ctr"/>
                      <a:r>
                        <a:rPr sz="1500" b="0">
                          <a:solidFill>
                            <a:srgbClr val="F2F2F2"/>
                          </a:solidFill>
                          <a:latin typeface="Calibri"/>
                        </a:rPr>
                        <a:t>0.91</a:t>
                      </a:r>
                    </a:p>
                  </a:txBody>
                  <a:tcPr marL="50000" marR="50000" marT="30000" marB="30000">
                    <a:solidFill>
                      <a:srgbClr val="1F2229"/>
                    </a:solidFill>
                  </a:tcPr>
                </a:tc>
                <a:tc>
                  <a:txBody>
                    <a:bodyPr/>
                    <a:lstStyle/>
                    <a:p>
                      <a:pPr algn="ctr"/>
                      <a:r>
                        <a:rPr sz="1500" b="0">
                          <a:solidFill>
                            <a:srgbClr val="F2F2F2"/>
                          </a:solidFill>
                          <a:latin typeface="Calibri"/>
                        </a:rPr>
                        <a:t>0.99</a:t>
                      </a:r>
                    </a:p>
                  </a:txBody>
                  <a:tcPr marL="50000" marR="50000" marT="30000" marB="30000">
                    <a:solidFill>
                      <a:srgbClr val="1F2229"/>
                    </a:solidFill>
                  </a:tcPr>
                </a:tc>
                <a:tc>
                  <a:txBody>
                    <a:bodyPr/>
                    <a:lstStyle/>
                    <a:p>
                      <a:pPr algn="ctr"/>
                      <a:r>
                        <a:rPr sz="1500" b="1">
                          <a:solidFill>
                            <a:srgbClr val="6AC87E"/>
                          </a:solidFill>
                          <a:latin typeface="Calibri"/>
                        </a:rPr>
                        <a:t>0.95</a:t>
                      </a:r>
                    </a:p>
                  </a:txBody>
                  <a:tcPr marL="50000" marR="50000" marT="30000" marB="30000">
                    <a:solidFill>
                      <a:srgbClr val="1F2229"/>
                    </a:solidFill>
                  </a:tcPr>
                </a:tc>
                <a:tc>
                  <a:txBody>
                    <a:bodyPr/>
                    <a:lstStyle/>
                    <a:p>
                      <a:pPr algn="ctr"/>
                      <a:r>
                        <a:rPr sz="1500" b="0">
                          <a:solidFill>
                            <a:srgbClr val="F2F2F2"/>
                          </a:solidFill>
                          <a:latin typeface="Calibri"/>
                        </a:rPr>
                        <a:t>379</a:t>
                      </a:r>
                    </a:p>
                  </a:txBody>
                  <a:tcPr marL="50000" marR="50000" marT="30000" marB="30000">
                    <a:solidFill>
                      <a:srgbClr val="1F2229"/>
                    </a:solidFill>
                  </a:tcPr>
                </a:tc>
                <a:extLst>
                  <a:ext uri="{0D108BD9-81ED-4DB2-BD59-A6C34878D82A}">
                    <a16:rowId xmlns:a16="http://schemas.microsoft.com/office/drawing/2014/main" val="10003"/>
                  </a:ext>
                </a:extLst>
              </a:tr>
              <a:tr h="621792">
                <a:tc>
                  <a:txBody>
                    <a:bodyPr/>
                    <a:lstStyle/>
                    <a:p>
                      <a:pPr algn="ctr"/>
                      <a:r>
                        <a:rPr sz="1500" b="0">
                          <a:solidFill>
                            <a:srgbClr val="F2F2F2"/>
                          </a:solidFill>
                          <a:latin typeface="Calibri"/>
                        </a:rPr>
                        <a:t>Macro avg</a:t>
                      </a:r>
                    </a:p>
                  </a:txBody>
                  <a:tcPr marL="50000" marR="50000" marT="30000" marB="30000">
                    <a:solidFill>
                      <a:srgbClr val="1F2229"/>
                    </a:solidFill>
                  </a:tcPr>
                </a:tc>
                <a:tc>
                  <a:txBody>
                    <a:bodyPr/>
                    <a:lstStyle/>
                    <a:p>
                      <a:pPr algn="ctr"/>
                      <a:r>
                        <a:rPr sz="1500" b="0">
                          <a:solidFill>
                            <a:srgbClr val="F2F2F2"/>
                          </a:solidFill>
                          <a:latin typeface="Calibri"/>
                        </a:rPr>
                        <a:t>0.95</a:t>
                      </a:r>
                    </a:p>
                  </a:txBody>
                  <a:tcPr marL="50000" marR="50000" marT="30000" marB="30000">
                    <a:solidFill>
                      <a:srgbClr val="1F2229"/>
                    </a:solidFill>
                  </a:tcPr>
                </a:tc>
                <a:tc>
                  <a:txBody>
                    <a:bodyPr/>
                    <a:lstStyle/>
                    <a:p>
                      <a:pPr algn="ctr"/>
                      <a:r>
                        <a:rPr sz="1500" b="0">
                          <a:solidFill>
                            <a:srgbClr val="F2F2F2"/>
                          </a:solidFill>
                          <a:latin typeface="Calibri"/>
                        </a:rPr>
                        <a:t>0.98</a:t>
                      </a:r>
                    </a:p>
                  </a:txBody>
                  <a:tcPr marL="50000" marR="50000" marT="30000" marB="30000">
                    <a:solidFill>
                      <a:srgbClr val="1F2229"/>
                    </a:solidFill>
                  </a:tcPr>
                </a:tc>
                <a:tc>
                  <a:txBody>
                    <a:bodyPr/>
                    <a:lstStyle/>
                    <a:p>
                      <a:pPr algn="ctr"/>
                      <a:r>
                        <a:rPr sz="1500" b="1">
                          <a:solidFill>
                            <a:srgbClr val="6AC87E"/>
                          </a:solidFill>
                          <a:latin typeface="Calibri"/>
                        </a:rPr>
                        <a:t>0.96</a:t>
                      </a:r>
                    </a:p>
                  </a:txBody>
                  <a:tcPr marL="50000" marR="50000" marT="30000" marB="30000">
                    <a:solidFill>
                      <a:srgbClr val="1F2229"/>
                    </a:solidFill>
                  </a:tcPr>
                </a:tc>
                <a:tc>
                  <a:txBody>
                    <a:bodyPr/>
                    <a:lstStyle/>
                    <a:p>
                      <a:pPr algn="ctr"/>
                      <a:r>
                        <a:rPr sz="1500" b="0" dirty="0">
                          <a:solidFill>
                            <a:srgbClr val="F2F2F2"/>
                          </a:solidFill>
                          <a:latin typeface="Calibri"/>
                        </a:rPr>
                        <a:t>1,829</a:t>
                      </a:r>
                    </a:p>
                  </a:txBody>
                  <a:tcPr marL="50000" marR="50000" marT="30000" marB="30000">
                    <a:solidFill>
                      <a:srgbClr val="1F2229"/>
                    </a:solidFill>
                  </a:tcPr>
                </a:tc>
                <a:extLst>
                  <a:ext uri="{0D108BD9-81ED-4DB2-BD59-A6C34878D82A}">
                    <a16:rowId xmlns:a16="http://schemas.microsoft.com/office/drawing/2014/main" val="10004"/>
                  </a:ext>
                </a:extLst>
              </a:tr>
            </a:tbl>
          </a:graphicData>
        </a:graphic>
      </p:graphicFrame>
      <p:pic>
        <p:nvPicPr>
          <p:cNvPr id="8" name="Picture 7" descr="confusion.png"/>
          <p:cNvPicPr>
            <a:picLocks noChangeAspect="1"/>
          </p:cNvPicPr>
          <p:nvPr/>
        </p:nvPicPr>
        <p:blipFill>
          <a:blip r:embed="rId2"/>
          <a:stretch>
            <a:fillRect/>
          </a:stretch>
        </p:blipFill>
        <p:spPr>
          <a:xfrm>
            <a:off x="7228260" y="1185111"/>
            <a:ext cx="4410295" cy="3675246"/>
          </a:xfrm>
          <a:prstGeom prst="rect">
            <a:avLst/>
          </a:prstGeom>
        </p:spPr>
      </p:pic>
      <p:sp>
        <p:nvSpPr>
          <p:cNvPr id="10" name="TextBox 9"/>
          <p:cNvSpPr txBox="1"/>
          <p:nvPr/>
        </p:nvSpPr>
        <p:spPr>
          <a:xfrm>
            <a:off x="457200" y="6446520"/>
            <a:ext cx="7315200" cy="274320"/>
          </a:xfrm>
          <a:prstGeom prst="rect">
            <a:avLst/>
          </a:prstGeom>
          <a:noFill/>
        </p:spPr>
        <p:txBody>
          <a:bodyPr wrap="square" lIns="0" tIns="0" rIns="0" bIns="0" anchor="t">
            <a:spAutoFit/>
          </a:bodyPr>
          <a:lstStyle/>
          <a:p>
            <a:pPr algn="l"/>
            <a:r>
              <a:rPr sz="1000" b="0" i="0">
                <a:solidFill>
                  <a:srgbClr val="6F737C"/>
                </a:solidFill>
                <a:latin typeface="Calibri"/>
              </a:rPr>
              <a:t>Bee Behavior Recognition — Master's Thesis Defense</a:t>
            </a:r>
          </a:p>
        </p:txBody>
      </p:sp>
      <p:sp>
        <p:nvSpPr>
          <p:cNvPr id="11" name="TextBox 10"/>
          <p:cNvSpPr txBox="1"/>
          <p:nvPr/>
        </p:nvSpPr>
        <p:spPr>
          <a:xfrm>
            <a:off x="10789920" y="6446520"/>
            <a:ext cx="914400" cy="153888"/>
          </a:xfrm>
          <a:prstGeom prst="rect">
            <a:avLst/>
          </a:prstGeom>
          <a:noFill/>
        </p:spPr>
        <p:txBody>
          <a:bodyPr wrap="square" lIns="0" tIns="0" rIns="0" bIns="0" anchor="t">
            <a:spAutoFit/>
          </a:bodyPr>
          <a:lstStyle/>
          <a:p>
            <a:pPr algn="r"/>
            <a:r>
              <a:rPr sz="1000" b="0" i="0" dirty="0">
                <a:solidFill>
                  <a:srgbClr val="6F737C"/>
                </a:solidFill>
                <a:latin typeface="Calibri"/>
              </a:rPr>
              <a:t>9 / </a:t>
            </a:r>
            <a:r>
              <a:rPr lang="en-US" sz="1000" dirty="0">
                <a:solidFill>
                  <a:srgbClr val="6F737C"/>
                </a:solidFill>
                <a:latin typeface="Calibri"/>
              </a:rPr>
              <a:t>13</a:t>
            </a:r>
            <a:endParaRPr sz="1000" b="0" i="0" dirty="0">
              <a:solidFill>
                <a:srgbClr val="6F737C"/>
              </a:solidFill>
              <a:latin typeface="Calibri"/>
            </a:endParaRPr>
          </a:p>
        </p:txBody>
      </p:sp>
      <p:sp>
        <p:nvSpPr>
          <p:cNvPr id="12" name="Rounded Rectangle 7">
            <a:extLst>
              <a:ext uri="{FF2B5EF4-FFF2-40B4-BE49-F238E27FC236}">
                <a16:creationId xmlns:a16="http://schemas.microsoft.com/office/drawing/2014/main" id="{2972F6D4-C37C-B4C7-3C85-0334B73D8C8F}"/>
              </a:ext>
            </a:extLst>
          </p:cNvPr>
          <p:cNvSpPr/>
          <p:nvPr/>
        </p:nvSpPr>
        <p:spPr>
          <a:xfrm>
            <a:off x="411480" y="4714947"/>
            <a:ext cx="6217920" cy="731520"/>
          </a:xfrm>
          <a:prstGeom prst="roundRect">
            <a:avLst>
              <a:gd name="adj" fmla="val 5000"/>
            </a:avLst>
          </a:prstGeom>
          <a:solidFill>
            <a:srgbClr val="1F2229"/>
          </a:solidFill>
          <a:ln w="952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n-US" sz="1400" b="1" dirty="0">
                <a:solidFill>
                  <a:srgbClr val="F5A623"/>
                </a:solidFill>
              </a:rPr>
              <a:t>WHY THIS ISN'T OVERFITTING / LEAKAGE</a:t>
            </a:r>
          </a:p>
          <a:p>
            <a:r>
              <a:rPr lang="en-US" sz="1400" dirty="0">
                <a:solidFill>
                  <a:srgbClr val="F2F2F2"/>
                </a:solidFill>
              </a:rPr>
              <a:t>Source-video-level split   ·   macro F1 ≠ 1.00 (real errors)   ·   E2E drops to 75–93%</a:t>
            </a:r>
            <a:endParaRPr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416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57200" y="411480"/>
            <a:ext cx="320040" cy="54864"/>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502920"/>
            <a:ext cx="11247120" cy="430887"/>
          </a:xfrm>
          <a:prstGeom prst="rect">
            <a:avLst/>
          </a:prstGeom>
          <a:noFill/>
        </p:spPr>
        <p:txBody>
          <a:bodyPr wrap="square" lIns="0" tIns="0" rIns="0" bIns="0" anchor="t">
            <a:spAutoFit/>
          </a:bodyPr>
          <a:lstStyle/>
          <a:p>
            <a:pPr algn="l"/>
            <a:r>
              <a:rPr lang="en-US" sz="2800" b="1" i="0" dirty="0">
                <a:solidFill>
                  <a:srgbClr val="F2F2F2"/>
                </a:solidFill>
                <a:latin typeface="Calibri"/>
              </a:rPr>
              <a:t>RESULTS</a:t>
            </a:r>
            <a:r>
              <a:rPr sz="2800" b="1" i="0" dirty="0">
                <a:solidFill>
                  <a:srgbClr val="F2F2F2"/>
                </a:solidFill>
                <a:latin typeface="Calibri"/>
              </a:rPr>
              <a:t> · </a:t>
            </a:r>
            <a:r>
              <a:rPr lang="en-US" sz="2800" b="1" i="0" dirty="0">
                <a:solidFill>
                  <a:srgbClr val="F2F2F2"/>
                </a:solidFill>
                <a:latin typeface="Calibri"/>
              </a:rPr>
              <a:t>END-TO-END PIPELINE</a:t>
            </a:r>
            <a:endParaRPr sz="2800" b="1" i="0" dirty="0">
              <a:solidFill>
                <a:srgbClr val="F2F2F2"/>
              </a:solidFill>
              <a:latin typeface="Calibri"/>
            </a:endParaRPr>
          </a:p>
        </p:txBody>
      </p:sp>
      <p:sp>
        <p:nvSpPr>
          <p:cNvPr id="5" name="TextBox 4"/>
          <p:cNvSpPr txBox="1"/>
          <p:nvPr/>
        </p:nvSpPr>
        <p:spPr>
          <a:xfrm>
            <a:off x="457200" y="1005840"/>
            <a:ext cx="11247120" cy="365760"/>
          </a:xfrm>
          <a:prstGeom prst="rect">
            <a:avLst/>
          </a:prstGeom>
          <a:noFill/>
        </p:spPr>
        <p:txBody>
          <a:bodyPr wrap="square" lIns="0" tIns="0" rIns="0" bIns="0" anchor="t">
            <a:spAutoFit/>
          </a:bodyPr>
          <a:lstStyle/>
          <a:p>
            <a:pPr algn="l"/>
            <a:r>
              <a:rPr sz="1400" b="0" i="1" dirty="0">
                <a:solidFill>
                  <a:srgbClr val="A8ABB3"/>
                </a:solidFill>
                <a:latin typeface="Calibri"/>
              </a:rPr>
              <a:t>44,680 frames · </a:t>
            </a:r>
            <a:r>
              <a:rPr sz="1400" b="0" i="1" dirty="0" err="1">
                <a:solidFill>
                  <a:srgbClr val="A8ABB3"/>
                </a:solidFill>
                <a:latin typeface="Calibri"/>
              </a:rPr>
              <a:t>IoU</a:t>
            </a:r>
            <a:r>
              <a:rPr sz="1400" b="0" i="1" dirty="0">
                <a:solidFill>
                  <a:srgbClr val="A8ABB3"/>
                </a:solidFill>
                <a:latin typeface="Calibri"/>
              </a:rPr>
              <a:t>-matched to human-annotated ground truth</a:t>
            </a:r>
          </a:p>
        </p:txBody>
      </p:sp>
      <p:pic>
        <p:nvPicPr>
          <p:cNvPr id="6" name="Picture 5" descr="graph_1b_iou_matched.png"/>
          <p:cNvPicPr>
            <a:picLocks noChangeAspect="1"/>
          </p:cNvPicPr>
          <p:nvPr/>
        </p:nvPicPr>
        <p:blipFill>
          <a:blip r:embed="rId2"/>
          <a:stretch>
            <a:fillRect/>
          </a:stretch>
        </p:blipFill>
        <p:spPr>
          <a:xfrm>
            <a:off x="1188720" y="1363749"/>
            <a:ext cx="9601200" cy="3071091"/>
          </a:xfrm>
          <a:prstGeom prst="rect">
            <a:avLst/>
          </a:prstGeom>
        </p:spPr>
      </p:pic>
      <p:sp>
        <p:nvSpPr>
          <p:cNvPr id="7" name="TextBox 6"/>
          <p:cNvSpPr txBox="1"/>
          <p:nvPr/>
        </p:nvSpPr>
        <p:spPr>
          <a:xfrm>
            <a:off x="396240" y="4470856"/>
            <a:ext cx="6400800" cy="215444"/>
          </a:xfrm>
          <a:prstGeom prst="rect">
            <a:avLst/>
          </a:prstGeom>
          <a:noFill/>
        </p:spPr>
        <p:txBody>
          <a:bodyPr wrap="square" lIns="0" tIns="0" rIns="0" bIns="0" anchor="t">
            <a:spAutoFit/>
          </a:bodyPr>
          <a:lstStyle/>
          <a:p>
            <a:pPr algn="l"/>
            <a:r>
              <a:rPr sz="1400" b="1" i="0" dirty="0">
                <a:solidFill>
                  <a:srgbClr val="F5A623"/>
                </a:solidFill>
                <a:latin typeface="Calibri"/>
              </a:rPr>
              <a:t>TWO SCORING MODES</a:t>
            </a:r>
          </a:p>
        </p:txBody>
      </p:sp>
      <p:graphicFrame>
        <p:nvGraphicFramePr>
          <p:cNvPr id="8" name="Table 7"/>
          <p:cNvGraphicFramePr>
            <a:graphicFrameLocks noGrp="1"/>
          </p:cNvGraphicFramePr>
          <p:nvPr>
            <p:extLst>
              <p:ext uri="{D42A27DB-BD31-4B8C-83A1-F6EECF244321}">
                <p14:modId xmlns:p14="http://schemas.microsoft.com/office/powerpoint/2010/main" val="1427667853"/>
              </p:ext>
            </p:extLst>
          </p:nvPr>
        </p:nvGraphicFramePr>
        <p:xfrm>
          <a:off x="396240" y="4750308"/>
          <a:ext cx="6400800" cy="1445880"/>
        </p:xfrm>
        <a:graphic>
          <a:graphicData uri="http://schemas.openxmlformats.org/drawingml/2006/table">
            <a:tbl>
              <a:tblPr firstRow="1" bandRow="1">
                <a:tableStyleId>{5C22544A-7EE6-4342-B048-85BDC9FD1C3A}</a:tableStyleId>
              </a:tblPr>
              <a:tblGrid>
                <a:gridCol w="2133600">
                  <a:extLst>
                    <a:ext uri="{9D8B030D-6E8A-4147-A177-3AD203B41FA5}">
                      <a16:colId xmlns:a16="http://schemas.microsoft.com/office/drawing/2014/main" val="20000"/>
                    </a:ext>
                  </a:extLst>
                </a:gridCol>
                <a:gridCol w="2133600">
                  <a:extLst>
                    <a:ext uri="{9D8B030D-6E8A-4147-A177-3AD203B41FA5}">
                      <a16:colId xmlns:a16="http://schemas.microsoft.com/office/drawing/2014/main" val="20001"/>
                    </a:ext>
                  </a:extLst>
                </a:gridCol>
                <a:gridCol w="2133600">
                  <a:extLst>
                    <a:ext uri="{9D8B030D-6E8A-4147-A177-3AD203B41FA5}">
                      <a16:colId xmlns:a16="http://schemas.microsoft.com/office/drawing/2014/main" val="20002"/>
                    </a:ext>
                  </a:extLst>
                </a:gridCol>
              </a:tblGrid>
              <a:tr h="472440">
                <a:tc>
                  <a:txBody>
                    <a:bodyPr/>
                    <a:lstStyle/>
                    <a:p>
                      <a:pPr algn="ctr"/>
                      <a:r>
                        <a:rPr sz="1400" b="1" dirty="0">
                          <a:solidFill>
                            <a:srgbClr val="14161B"/>
                          </a:solidFill>
                          <a:latin typeface="Calibri"/>
                        </a:rPr>
                        <a:t>Scoring mode</a:t>
                      </a:r>
                    </a:p>
                  </a:txBody>
                  <a:tcPr marL="50000" marR="50000" marT="30000" marB="30000">
                    <a:solidFill>
                      <a:srgbClr val="F5A623"/>
                    </a:solidFill>
                  </a:tcPr>
                </a:tc>
                <a:tc>
                  <a:txBody>
                    <a:bodyPr/>
                    <a:lstStyle/>
                    <a:p>
                      <a:pPr algn="ctr"/>
                      <a:r>
                        <a:rPr sz="1400" b="1">
                          <a:solidFill>
                            <a:srgbClr val="14161B"/>
                          </a:solidFill>
                          <a:latin typeface="Calibri"/>
                        </a:rPr>
                        <a:t>Fanning</a:t>
                      </a:r>
                    </a:p>
                  </a:txBody>
                  <a:tcPr marL="50000" marR="50000" marT="30000" marB="30000">
                    <a:solidFill>
                      <a:srgbClr val="F5A623"/>
                    </a:solidFill>
                  </a:tcPr>
                </a:tc>
                <a:tc>
                  <a:txBody>
                    <a:bodyPr/>
                    <a:lstStyle/>
                    <a:p>
                      <a:pPr algn="ctr"/>
                      <a:r>
                        <a:rPr sz="1400" b="1">
                          <a:solidFill>
                            <a:srgbClr val="14161B"/>
                          </a:solidFill>
                          <a:latin typeface="Calibri"/>
                        </a:rPr>
                        <a:t>Trophallaxis</a:t>
                      </a:r>
                    </a:p>
                  </a:txBody>
                  <a:tcPr marL="50000" marR="50000" marT="30000" marB="30000">
                    <a:solidFill>
                      <a:srgbClr val="F5A623"/>
                    </a:solidFill>
                  </a:tcPr>
                </a:tc>
                <a:extLst>
                  <a:ext uri="{0D108BD9-81ED-4DB2-BD59-A6C34878D82A}">
                    <a16:rowId xmlns:a16="http://schemas.microsoft.com/office/drawing/2014/main" val="10000"/>
                  </a:ext>
                </a:extLst>
              </a:tr>
              <a:tr h="472440">
                <a:tc>
                  <a:txBody>
                    <a:bodyPr/>
                    <a:lstStyle/>
                    <a:p>
                      <a:pPr algn="ctr"/>
                      <a:r>
                        <a:rPr sz="1400" b="0">
                          <a:solidFill>
                            <a:srgbClr val="F2F2F2"/>
                          </a:solidFill>
                          <a:latin typeface="Calibri"/>
                        </a:rPr>
                        <a:t>Conservative (uncertain = error)</a:t>
                      </a:r>
                    </a:p>
                  </a:txBody>
                  <a:tcPr marL="50000" marR="50000" marT="30000" marB="30000">
                    <a:solidFill>
                      <a:srgbClr val="1F2229"/>
                    </a:solidFill>
                  </a:tcPr>
                </a:tc>
                <a:tc>
                  <a:txBody>
                    <a:bodyPr/>
                    <a:lstStyle/>
                    <a:p>
                      <a:pPr algn="ctr"/>
                      <a:r>
                        <a:rPr sz="1400" b="1" dirty="0">
                          <a:solidFill>
                            <a:srgbClr val="6AC87E"/>
                          </a:solidFill>
                          <a:latin typeface="Calibri"/>
                        </a:rPr>
                        <a:t>67.6%</a:t>
                      </a:r>
                    </a:p>
                  </a:txBody>
                  <a:tcPr marL="50000" marR="50000" marT="30000" marB="30000">
                    <a:solidFill>
                      <a:srgbClr val="1F2229"/>
                    </a:solidFill>
                  </a:tcPr>
                </a:tc>
                <a:tc>
                  <a:txBody>
                    <a:bodyPr/>
                    <a:lstStyle/>
                    <a:p>
                      <a:pPr algn="ctr"/>
                      <a:r>
                        <a:rPr sz="1400" b="1">
                          <a:solidFill>
                            <a:srgbClr val="6AC87E"/>
                          </a:solidFill>
                          <a:latin typeface="Calibri"/>
                        </a:rPr>
                        <a:t>88.0%</a:t>
                      </a:r>
                    </a:p>
                  </a:txBody>
                  <a:tcPr marL="50000" marR="50000" marT="30000" marB="30000">
                    <a:solidFill>
                      <a:srgbClr val="1F2229"/>
                    </a:solidFill>
                  </a:tcPr>
                </a:tc>
                <a:extLst>
                  <a:ext uri="{0D108BD9-81ED-4DB2-BD59-A6C34878D82A}">
                    <a16:rowId xmlns:a16="http://schemas.microsoft.com/office/drawing/2014/main" val="10001"/>
                  </a:ext>
                </a:extLst>
              </a:tr>
              <a:tr h="472440">
                <a:tc>
                  <a:txBody>
                    <a:bodyPr/>
                    <a:lstStyle/>
                    <a:p>
                      <a:pPr algn="ctr"/>
                      <a:r>
                        <a:rPr sz="1400" b="0">
                          <a:solidFill>
                            <a:srgbClr val="F2F2F2"/>
                          </a:solidFill>
                          <a:latin typeface="Calibri"/>
                        </a:rPr>
                        <a:t>Confident predictions only (headline)</a:t>
                      </a:r>
                    </a:p>
                  </a:txBody>
                  <a:tcPr marL="50000" marR="50000" marT="30000" marB="30000">
                    <a:solidFill>
                      <a:srgbClr val="1F2229"/>
                    </a:solidFill>
                  </a:tcPr>
                </a:tc>
                <a:tc>
                  <a:txBody>
                    <a:bodyPr/>
                    <a:lstStyle/>
                    <a:p>
                      <a:pPr algn="ctr"/>
                      <a:r>
                        <a:rPr sz="1400" b="1">
                          <a:solidFill>
                            <a:srgbClr val="6AC87E"/>
                          </a:solidFill>
                          <a:latin typeface="Calibri"/>
                        </a:rPr>
                        <a:t>75.2%</a:t>
                      </a:r>
                    </a:p>
                  </a:txBody>
                  <a:tcPr marL="50000" marR="50000" marT="30000" marB="30000">
                    <a:solidFill>
                      <a:srgbClr val="1F2229"/>
                    </a:solidFill>
                  </a:tcPr>
                </a:tc>
                <a:tc>
                  <a:txBody>
                    <a:bodyPr/>
                    <a:lstStyle/>
                    <a:p>
                      <a:pPr algn="ctr"/>
                      <a:r>
                        <a:rPr sz="1400" b="1" dirty="0">
                          <a:solidFill>
                            <a:srgbClr val="6AC87E"/>
                          </a:solidFill>
                          <a:latin typeface="Calibri"/>
                        </a:rPr>
                        <a:t>92.6%</a:t>
                      </a:r>
                    </a:p>
                  </a:txBody>
                  <a:tcPr marL="50000" marR="50000" marT="30000" marB="30000">
                    <a:solidFill>
                      <a:srgbClr val="1F2229"/>
                    </a:solidFill>
                  </a:tcPr>
                </a:tc>
                <a:extLst>
                  <a:ext uri="{0D108BD9-81ED-4DB2-BD59-A6C34878D82A}">
                    <a16:rowId xmlns:a16="http://schemas.microsoft.com/office/drawing/2014/main" val="10002"/>
                  </a:ext>
                </a:extLst>
              </a:tr>
            </a:tbl>
          </a:graphicData>
        </a:graphic>
      </p:graphicFrame>
      <p:sp>
        <p:nvSpPr>
          <p:cNvPr id="9" name="Rounded Rectangle 8"/>
          <p:cNvSpPr/>
          <p:nvPr/>
        </p:nvSpPr>
        <p:spPr>
          <a:xfrm>
            <a:off x="7132320" y="4617720"/>
            <a:ext cx="4663440" cy="1737360"/>
          </a:xfrm>
          <a:prstGeom prst="roundRect">
            <a:avLst>
              <a:gd name="adj" fmla="val 5000"/>
            </a:avLst>
          </a:prstGeom>
          <a:solidFill>
            <a:srgbClr val="1F2229"/>
          </a:solidFill>
          <a:ln w="952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269480" y="4792749"/>
            <a:ext cx="4389120" cy="1292662"/>
          </a:xfrm>
          <a:prstGeom prst="rect">
            <a:avLst/>
          </a:prstGeom>
          <a:noFill/>
        </p:spPr>
        <p:txBody>
          <a:bodyPr wrap="square" lIns="0" tIns="0" rIns="0" bIns="0" anchor="t">
            <a:spAutoFit/>
          </a:bodyPr>
          <a:lstStyle/>
          <a:p>
            <a:r>
              <a:rPr lang="en-US" sz="1400" b="1" dirty="0">
                <a:solidFill>
                  <a:srgbClr val="F5A623"/>
                </a:solidFill>
              </a:rPr>
              <a:t>OBSERVATION ON FANNING GAP</a:t>
            </a:r>
          </a:p>
          <a:p>
            <a:pPr algn="l"/>
            <a:endParaRPr lang="en-US" sz="1400" b="0" i="0" dirty="0">
              <a:solidFill>
                <a:srgbClr val="F2F2F2"/>
              </a:solidFill>
              <a:latin typeface="Calibri"/>
            </a:endParaRPr>
          </a:p>
          <a:p>
            <a:pPr algn="l"/>
            <a:r>
              <a:rPr sz="1400" b="0" i="0" dirty="0">
                <a:solidFill>
                  <a:srgbClr val="F2F2F2"/>
                </a:solidFill>
                <a:latin typeface="Calibri"/>
              </a:rPr>
              <a:t>Bees that fail to enter the hive sometimes use wing motion to push themselves in visually similar to stationary fanning. The classifier correctly stays conservative on those, which contributes to the fanning recall gap.</a:t>
            </a:r>
          </a:p>
        </p:txBody>
      </p:sp>
      <p:sp>
        <p:nvSpPr>
          <p:cNvPr id="12" name="TextBox 11"/>
          <p:cNvSpPr txBox="1"/>
          <p:nvPr/>
        </p:nvSpPr>
        <p:spPr>
          <a:xfrm>
            <a:off x="457200" y="6446520"/>
            <a:ext cx="7315200" cy="274320"/>
          </a:xfrm>
          <a:prstGeom prst="rect">
            <a:avLst/>
          </a:prstGeom>
          <a:noFill/>
        </p:spPr>
        <p:txBody>
          <a:bodyPr wrap="square" lIns="0" tIns="0" rIns="0" bIns="0" anchor="t">
            <a:spAutoFit/>
          </a:bodyPr>
          <a:lstStyle/>
          <a:p>
            <a:pPr algn="l"/>
            <a:r>
              <a:rPr sz="1000" b="0" i="0" dirty="0">
                <a:solidFill>
                  <a:srgbClr val="6F737C"/>
                </a:solidFill>
                <a:latin typeface="Calibri"/>
              </a:rPr>
              <a:t>Bee Behavior Recognition — Master's Thesis Defense</a:t>
            </a:r>
          </a:p>
        </p:txBody>
      </p:sp>
      <p:sp>
        <p:nvSpPr>
          <p:cNvPr id="13" name="TextBox 12"/>
          <p:cNvSpPr txBox="1"/>
          <p:nvPr/>
        </p:nvSpPr>
        <p:spPr>
          <a:xfrm>
            <a:off x="10789920" y="6446520"/>
            <a:ext cx="914400" cy="153888"/>
          </a:xfrm>
          <a:prstGeom prst="rect">
            <a:avLst/>
          </a:prstGeom>
          <a:noFill/>
        </p:spPr>
        <p:txBody>
          <a:bodyPr wrap="square" lIns="0" tIns="0" rIns="0" bIns="0" anchor="t">
            <a:spAutoFit/>
          </a:bodyPr>
          <a:lstStyle/>
          <a:p>
            <a:pPr algn="r"/>
            <a:r>
              <a:rPr sz="1000" b="0" i="0" dirty="0">
                <a:solidFill>
                  <a:srgbClr val="6F737C"/>
                </a:solidFill>
                <a:latin typeface="Calibri"/>
              </a:rPr>
              <a:t>1</a:t>
            </a:r>
            <a:r>
              <a:rPr lang="en-US" sz="1000" dirty="0">
                <a:solidFill>
                  <a:srgbClr val="6F737C"/>
                </a:solidFill>
                <a:latin typeface="Calibri"/>
              </a:rPr>
              <a:t>0</a:t>
            </a:r>
            <a:r>
              <a:rPr sz="1000" b="0" i="0" dirty="0">
                <a:solidFill>
                  <a:srgbClr val="6F737C"/>
                </a:solidFill>
                <a:latin typeface="Calibri"/>
              </a:rPr>
              <a:t> / 1</a:t>
            </a:r>
            <a:r>
              <a:rPr lang="en-US" sz="1000" dirty="0">
                <a:solidFill>
                  <a:srgbClr val="6F737C"/>
                </a:solidFill>
                <a:latin typeface="Calibri"/>
              </a:rPr>
              <a:t>3</a:t>
            </a:r>
            <a:endParaRPr sz="1000" b="0" i="0" dirty="0">
              <a:solidFill>
                <a:srgbClr val="6F737C"/>
              </a:solidFill>
              <a:latin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416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57200" y="411480"/>
            <a:ext cx="320040" cy="54864"/>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502920"/>
            <a:ext cx="11247120" cy="430887"/>
          </a:xfrm>
          <a:prstGeom prst="rect">
            <a:avLst/>
          </a:prstGeom>
          <a:noFill/>
        </p:spPr>
        <p:txBody>
          <a:bodyPr wrap="square" lIns="0" tIns="0" rIns="0" bIns="0" anchor="t">
            <a:spAutoFit/>
          </a:bodyPr>
          <a:lstStyle/>
          <a:p>
            <a:pPr algn="l"/>
            <a:r>
              <a:rPr lang="en-US" sz="2800" b="1" i="0" dirty="0">
                <a:solidFill>
                  <a:srgbClr val="F2F2F2"/>
                </a:solidFill>
                <a:latin typeface="Calibri"/>
              </a:rPr>
              <a:t>RESULTS</a:t>
            </a:r>
            <a:r>
              <a:rPr sz="2800" b="1" i="0" dirty="0">
                <a:solidFill>
                  <a:srgbClr val="F2F2F2"/>
                </a:solidFill>
                <a:latin typeface="Calibri"/>
              </a:rPr>
              <a:t> · </a:t>
            </a:r>
            <a:r>
              <a:rPr lang="en-US" sz="2800" b="1" dirty="0">
                <a:solidFill>
                  <a:srgbClr val="F2F2F2"/>
                </a:solidFill>
                <a:latin typeface="Calibri"/>
              </a:rPr>
              <a:t>THE GAPS</a:t>
            </a:r>
            <a:endParaRPr sz="2800" b="1" i="0" dirty="0">
              <a:solidFill>
                <a:srgbClr val="F2F2F2"/>
              </a:solidFill>
              <a:latin typeface="Calibri"/>
            </a:endParaRPr>
          </a:p>
        </p:txBody>
      </p:sp>
      <p:sp>
        <p:nvSpPr>
          <p:cNvPr id="5" name="TextBox 4"/>
          <p:cNvSpPr txBox="1"/>
          <p:nvPr/>
        </p:nvSpPr>
        <p:spPr>
          <a:xfrm>
            <a:off x="457200" y="1005840"/>
            <a:ext cx="11247120" cy="215444"/>
          </a:xfrm>
          <a:prstGeom prst="rect">
            <a:avLst/>
          </a:prstGeom>
          <a:noFill/>
        </p:spPr>
        <p:txBody>
          <a:bodyPr wrap="square" lIns="0" tIns="0" rIns="0" bIns="0" anchor="t">
            <a:spAutoFit/>
          </a:bodyPr>
          <a:lstStyle/>
          <a:p>
            <a:pPr algn="l"/>
            <a:r>
              <a:rPr sz="1400" b="0" i="1" dirty="0">
                <a:solidFill>
                  <a:srgbClr val="A8ABB3"/>
                </a:solidFill>
                <a:latin typeface="Calibri"/>
              </a:rPr>
              <a:t>Isolated F1 = 0.96 vs end-to-end 75-93% —</a:t>
            </a:r>
            <a:r>
              <a:rPr lang="en-US" sz="1400" b="0" i="1" dirty="0">
                <a:solidFill>
                  <a:srgbClr val="A8ABB3"/>
                </a:solidFill>
                <a:latin typeface="Calibri"/>
              </a:rPr>
              <a:t>Tracker </a:t>
            </a:r>
            <a:r>
              <a:rPr sz="1400" b="0" i="1" dirty="0">
                <a:solidFill>
                  <a:srgbClr val="A8ABB3"/>
                </a:solidFill>
                <a:latin typeface="Calibri"/>
              </a:rPr>
              <a:t>fragmentation</a:t>
            </a:r>
            <a:r>
              <a:rPr lang="en-US" sz="1400" i="1" dirty="0">
                <a:solidFill>
                  <a:srgbClr val="A8ABB3"/>
                </a:solidFill>
                <a:latin typeface="Calibri"/>
              </a:rPr>
              <a:t>, Frame loss</a:t>
            </a:r>
            <a:endParaRPr sz="1400" b="0" i="1" dirty="0">
              <a:solidFill>
                <a:srgbClr val="A8ABB3"/>
              </a:solidFill>
              <a:latin typeface="Calibri"/>
            </a:endParaRPr>
          </a:p>
        </p:txBody>
      </p:sp>
      <p:pic>
        <p:nvPicPr>
          <p:cNvPr id="6" name="Picture 5" descr="graph_4_track_lifetime.png"/>
          <p:cNvPicPr>
            <a:picLocks noChangeAspect="1"/>
          </p:cNvPicPr>
          <p:nvPr/>
        </p:nvPicPr>
        <p:blipFill>
          <a:blip r:embed="rId2"/>
          <a:stretch>
            <a:fillRect/>
          </a:stretch>
        </p:blipFill>
        <p:spPr>
          <a:xfrm>
            <a:off x="1960648" y="1312724"/>
            <a:ext cx="8240224" cy="2876530"/>
          </a:xfrm>
          <a:prstGeom prst="rect">
            <a:avLst/>
          </a:prstGeom>
        </p:spPr>
      </p:pic>
      <p:sp>
        <p:nvSpPr>
          <p:cNvPr id="8" name="TextBox 7"/>
          <p:cNvSpPr txBox="1"/>
          <p:nvPr/>
        </p:nvSpPr>
        <p:spPr>
          <a:xfrm>
            <a:off x="457199" y="4280694"/>
            <a:ext cx="5916169" cy="1388265"/>
          </a:xfrm>
          <a:prstGeom prst="rect">
            <a:avLst/>
          </a:prstGeom>
          <a:noFill/>
        </p:spPr>
        <p:txBody>
          <a:bodyPr wrap="square" lIns="0" tIns="0" rIns="0" bIns="0">
            <a:spAutoFit/>
          </a:bodyPr>
          <a:lstStyle/>
          <a:p>
            <a:pPr>
              <a:lnSpc>
                <a:spcPct val="140000"/>
              </a:lnSpc>
            </a:pPr>
            <a:r>
              <a:rPr lang="en-US" b="1" dirty="0">
                <a:solidFill>
                  <a:srgbClr val="F5A623"/>
                </a:solidFill>
              </a:rPr>
              <a:t>THE BOTTLENECK</a:t>
            </a:r>
          </a:p>
          <a:p>
            <a:pPr algn="l">
              <a:lnSpc>
                <a:spcPct val="140000"/>
              </a:lnSpc>
            </a:pPr>
            <a:endParaRPr lang="en-US" sz="1600" b="1" dirty="0">
              <a:solidFill>
                <a:srgbClr val="F5A623"/>
              </a:solidFill>
              <a:latin typeface="Calibri"/>
            </a:endParaRPr>
          </a:p>
          <a:p>
            <a:pPr algn="l">
              <a:lnSpc>
                <a:spcPct val="140000"/>
              </a:lnSpc>
            </a:pPr>
            <a:r>
              <a:rPr sz="1600" b="1" dirty="0">
                <a:solidFill>
                  <a:srgbClr val="F5A623"/>
                </a:solidFill>
                <a:latin typeface="Calibri"/>
              </a:rPr>
              <a:t>▸ </a:t>
            </a:r>
            <a:r>
              <a:rPr sz="1600" dirty="0">
                <a:solidFill>
                  <a:srgbClr val="F2F2F2"/>
                </a:solidFill>
                <a:latin typeface="Calibri"/>
              </a:rPr>
              <a:t>~1/3 of fanning tracks never reach the 4-frame minimum buffer.</a:t>
            </a:r>
          </a:p>
          <a:p>
            <a:pPr algn="l">
              <a:lnSpc>
                <a:spcPct val="140000"/>
              </a:lnSpc>
            </a:pPr>
            <a:r>
              <a:rPr sz="1600" b="1" dirty="0">
                <a:solidFill>
                  <a:srgbClr val="F5A623"/>
                </a:solidFill>
                <a:latin typeface="Calibri"/>
              </a:rPr>
              <a:t>▸ </a:t>
            </a:r>
            <a:r>
              <a:rPr sz="1600" dirty="0" err="1">
                <a:solidFill>
                  <a:srgbClr val="F2F2F2"/>
                </a:solidFill>
                <a:latin typeface="Calibri"/>
              </a:rPr>
              <a:t>ByteTracker</a:t>
            </a:r>
            <a:r>
              <a:rPr sz="1600" dirty="0">
                <a:solidFill>
                  <a:srgbClr val="F2F2F2"/>
                </a:solidFill>
                <a:latin typeface="Calibri"/>
              </a:rPr>
              <a:t> fragments under dense activity at the hive entrance.</a:t>
            </a:r>
          </a:p>
        </p:txBody>
      </p:sp>
      <p:sp>
        <p:nvSpPr>
          <p:cNvPr id="13" name="TextBox 12"/>
          <p:cNvSpPr txBox="1"/>
          <p:nvPr/>
        </p:nvSpPr>
        <p:spPr>
          <a:xfrm>
            <a:off x="457200" y="6446520"/>
            <a:ext cx="7315200" cy="274320"/>
          </a:xfrm>
          <a:prstGeom prst="rect">
            <a:avLst/>
          </a:prstGeom>
          <a:noFill/>
        </p:spPr>
        <p:txBody>
          <a:bodyPr wrap="square" lIns="0" tIns="0" rIns="0" bIns="0" anchor="t">
            <a:spAutoFit/>
          </a:bodyPr>
          <a:lstStyle/>
          <a:p>
            <a:pPr algn="l"/>
            <a:r>
              <a:rPr sz="1000" b="0" i="0">
                <a:solidFill>
                  <a:srgbClr val="6F737C"/>
                </a:solidFill>
                <a:latin typeface="Calibri"/>
              </a:rPr>
              <a:t>Bee Behavior Recognition — Master's Thesis Defense</a:t>
            </a:r>
          </a:p>
        </p:txBody>
      </p:sp>
      <p:sp>
        <p:nvSpPr>
          <p:cNvPr id="14" name="TextBox 13"/>
          <p:cNvSpPr txBox="1"/>
          <p:nvPr/>
        </p:nvSpPr>
        <p:spPr>
          <a:xfrm>
            <a:off x="10789920" y="6446520"/>
            <a:ext cx="914400" cy="153888"/>
          </a:xfrm>
          <a:prstGeom prst="rect">
            <a:avLst/>
          </a:prstGeom>
          <a:noFill/>
        </p:spPr>
        <p:txBody>
          <a:bodyPr wrap="square" lIns="0" tIns="0" rIns="0" bIns="0" anchor="t">
            <a:spAutoFit/>
          </a:bodyPr>
          <a:lstStyle/>
          <a:p>
            <a:pPr algn="r"/>
            <a:r>
              <a:rPr sz="1000" b="0" i="0" dirty="0">
                <a:solidFill>
                  <a:srgbClr val="6F737C"/>
                </a:solidFill>
                <a:latin typeface="Calibri"/>
              </a:rPr>
              <a:t>1</a:t>
            </a:r>
            <a:r>
              <a:rPr lang="en-US" sz="1000" dirty="0">
                <a:solidFill>
                  <a:srgbClr val="6F737C"/>
                </a:solidFill>
                <a:latin typeface="Calibri"/>
              </a:rPr>
              <a:t>1</a:t>
            </a:r>
            <a:r>
              <a:rPr sz="1000" b="0" i="0" dirty="0">
                <a:solidFill>
                  <a:srgbClr val="6F737C"/>
                </a:solidFill>
                <a:latin typeface="Calibri"/>
              </a:rPr>
              <a:t> / 1</a:t>
            </a:r>
            <a:r>
              <a:rPr lang="en-US" sz="1000" dirty="0">
                <a:solidFill>
                  <a:srgbClr val="6F737C"/>
                </a:solidFill>
                <a:latin typeface="Calibri"/>
              </a:rPr>
              <a:t>3</a:t>
            </a:r>
            <a:endParaRPr sz="1000" b="0" i="0" dirty="0">
              <a:solidFill>
                <a:srgbClr val="6F737C"/>
              </a:solidFill>
              <a:latin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416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57200" y="411480"/>
            <a:ext cx="320040" cy="54864"/>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502920"/>
            <a:ext cx="11247120" cy="430887"/>
          </a:xfrm>
          <a:prstGeom prst="rect">
            <a:avLst/>
          </a:prstGeom>
          <a:noFill/>
        </p:spPr>
        <p:txBody>
          <a:bodyPr wrap="square" lIns="0" tIns="0" rIns="0" bIns="0" anchor="t">
            <a:spAutoFit/>
          </a:bodyPr>
          <a:lstStyle/>
          <a:p>
            <a:pPr algn="l"/>
            <a:r>
              <a:rPr lang="en-US" sz="2800" b="1" i="0" dirty="0">
                <a:solidFill>
                  <a:srgbClr val="F2F2F2"/>
                </a:solidFill>
                <a:latin typeface="Calibri"/>
              </a:rPr>
              <a:t>COMPARISON</a:t>
            </a:r>
            <a:r>
              <a:rPr sz="2800" b="1" i="0" dirty="0">
                <a:solidFill>
                  <a:srgbClr val="F2F2F2"/>
                </a:solidFill>
                <a:latin typeface="Calibri"/>
              </a:rPr>
              <a:t> &amp; </a:t>
            </a:r>
            <a:r>
              <a:rPr lang="en-US" sz="2800" b="1" i="0" dirty="0">
                <a:solidFill>
                  <a:srgbClr val="F2F2F2"/>
                </a:solidFill>
                <a:latin typeface="Calibri"/>
              </a:rPr>
              <a:t>CONCLUSIONS</a:t>
            </a:r>
            <a:endParaRPr sz="2800" b="1" i="0" dirty="0">
              <a:solidFill>
                <a:srgbClr val="F2F2F2"/>
              </a:solidFill>
              <a:latin typeface="Calibri"/>
            </a:endParaRPr>
          </a:p>
        </p:txBody>
      </p:sp>
      <p:graphicFrame>
        <p:nvGraphicFramePr>
          <p:cNvPr id="5" name="Table 4"/>
          <p:cNvGraphicFramePr>
            <a:graphicFrameLocks noGrp="1"/>
          </p:cNvGraphicFramePr>
          <p:nvPr>
            <p:extLst>
              <p:ext uri="{D42A27DB-BD31-4B8C-83A1-F6EECF244321}">
                <p14:modId xmlns:p14="http://schemas.microsoft.com/office/powerpoint/2010/main" val="4099140482"/>
              </p:ext>
            </p:extLst>
          </p:nvPr>
        </p:nvGraphicFramePr>
        <p:xfrm>
          <a:off x="457200" y="1554480"/>
          <a:ext cx="11247120" cy="2194560"/>
        </p:xfrm>
        <a:graphic>
          <a:graphicData uri="http://schemas.openxmlformats.org/drawingml/2006/table">
            <a:tbl>
              <a:tblPr firstRow="1" bandRow="1">
                <a:tableStyleId>{5C22544A-7EE6-4342-B048-85BDC9FD1C3A}</a:tableStyleId>
              </a:tblPr>
              <a:tblGrid>
                <a:gridCol w="3749040">
                  <a:extLst>
                    <a:ext uri="{9D8B030D-6E8A-4147-A177-3AD203B41FA5}">
                      <a16:colId xmlns:a16="http://schemas.microsoft.com/office/drawing/2014/main" val="20000"/>
                    </a:ext>
                  </a:extLst>
                </a:gridCol>
                <a:gridCol w="3749040">
                  <a:extLst>
                    <a:ext uri="{9D8B030D-6E8A-4147-A177-3AD203B41FA5}">
                      <a16:colId xmlns:a16="http://schemas.microsoft.com/office/drawing/2014/main" val="20001"/>
                    </a:ext>
                  </a:extLst>
                </a:gridCol>
                <a:gridCol w="3749040">
                  <a:extLst>
                    <a:ext uri="{9D8B030D-6E8A-4147-A177-3AD203B41FA5}">
                      <a16:colId xmlns:a16="http://schemas.microsoft.com/office/drawing/2014/main" val="20002"/>
                    </a:ext>
                  </a:extLst>
                </a:gridCol>
              </a:tblGrid>
              <a:tr h="438912">
                <a:tc>
                  <a:txBody>
                    <a:bodyPr/>
                    <a:lstStyle/>
                    <a:p>
                      <a:pPr algn="ctr"/>
                      <a:r>
                        <a:rPr sz="1200" b="1">
                          <a:solidFill>
                            <a:srgbClr val="14161B"/>
                          </a:solidFill>
                          <a:latin typeface="Calibri"/>
                        </a:rPr>
                        <a:t>Capability</a:t>
                      </a:r>
                    </a:p>
                  </a:txBody>
                  <a:tcPr marL="50000" marR="50000" marT="30000" marB="30000">
                    <a:solidFill>
                      <a:srgbClr val="F5A623"/>
                    </a:solidFill>
                  </a:tcPr>
                </a:tc>
                <a:tc>
                  <a:txBody>
                    <a:bodyPr/>
                    <a:lstStyle/>
                    <a:p>
                      <a:pPr algn="ctr"/>
                      <a:r>
                        <a:rPr sz="1200" b="1">
                          <a:solidFill>
                            <a:srgbClr val="14161B"/>
                          </a:solidFill>
                          <a:latin typeface="Calibri"/>
                        </a:rPr>
                        <a:t>Prior VGTU [3,4,16,18]</a:t>
                      </a:r>
                    </a:p>
                  </a:txBody>
                  <a:tcPr marL="50000" marR="50000" marT="30000" marB="30000">
                    <a:solidFill>
                      <a:srgbClr val="F5A623"/>
                    </a:solidFill>
                  </a:tcPr>
                </a:tc>
                <a:tc>
                  <a:txBody>
                    <a:bodyPr/>
                    <a:lstStyle/>
                    <a:p>
                      <a:pPr algn="ctr"/>
                      <a:r>
                        <a:rPr sz="1200" b="1">
                          <a:solidFill>
                            <a:srgbClr val="14161B"/>
                          </a:solidFill>
                          <a:latin typeface="Calibri"/>
                        </a:rPr>
                        <a:t>This work</a:t>
                      </a:r>
                    </a:p>
                  </a:txBody>
                  <a:tcPr marL="50000" marR="50000" marT="30000" marB="30000">
                    <a:solidFill>
                      <a:srgbClr val="F5A623"/>
                    </a:solidFill>
                  </a:tcPr>
                </a:tc>
                <a:extLst>
                  <a:ext uri="{0D108BD9-81ED-4DB2-BD59-A6C34878D82A}">
                    <a16:rowId xmlns:a16="http://schemas.microsoft.com/office/drawing/2014/main" val="10000"/>
                  </a:ext>
                </a:extLst>
              </a:tr>
              <a:tr h="438912">
                <a:tc>
                  <a:txBody>
                    <a:bodyPr/>
                    <a:lstStyle/>
                    <a:p>
                      <a:pPr algn="ctr"/>
                      <a:r>
                        <a:rPr sz="1200" b="0">
                          <a:solidFill>
                            <a:srgbClr val="F2F2F2"/>
                          </a:solidFill>
                          <a:latin typeface="Calibri"/>
                        </a:rPr>
                        <a:t>mAP@0.5 / mAP@0.5:0.95</a:t>
                      </a:r>
                    </a:p>
                  </a:txBody>
                  <a:tcPr marL="50000" marR="50000" marT="30000" marB="30000">
                    <a:solidFill>
                      <a:srgbClr val="1F2229"/>
                    </a:solidFill>
                  </a:tcPr>
                </a:tc>
                <a:tc>
                  <a:txBody>
                    <a:bodyPr/>
                    <a:lstStyle/>
                    <a:p>
                      <a:pPr algn="ctr"/>
                      <a:r>
                        <a:rPr sz="1200" b="0">
                          <a:solidFill>
                            <a:srgbClr val="F2F2F2"/>
                          </a:solidFill>
                          <a:latin typeface="Calibri"/>
                        </a:rPr>
                        <a:t>0.97 / 0.65</a:t>
                      </a:r>
                    </a:p>
                  </a:txBody>
                  <a:tcPr marL="50000" marR="50000" marT="30000" marB="30000">
                    <a:solidFill>
                      <a:srgbClr val="1F2229"/>
                    </a:solidFill>
                  </a:tcPr>
                </a:tc>
                <a:tc>
                  <a:txBody>
                    <a:bodyPr/>
                    <a:lstStyle/>
                    <a:p>
                      <a:pPr algn="ctr"/>
                      <a:r>
                        <a:rPr sz="1200" b="1">
                          <a:solidFill>
                            <a:srgbClr val="6AC87E"/>
                          </a:solidFill>
                          <a:latin typeface="Calibri"/>
                        </a:rPr>
                        <a:t>0.992 / 0.853</a:t>
                      </a:r>
                    </a:p>
                  </a:txBody>
                  <a:tcPr marL="50000" marR="50000" marT="30000" marB="30000">
                    <a:solidFill>
                      <a:srgbClr val="1F2229"/>
                    </a:solidFill>
                  </a:tcPr>
                </a:tc>
                <a:extLst>
                  <a:ext uri="{0D108BD9-81ED-4DB2-BD59-A6C34878D82A}">
                    <a16:rowId xmlns:a16="http://schemas.microsoft.com/office/drawing/2014/main" val="10001"/>
                  </a:ext>
                </a:extLst>
              </a:tr>
              <a:tr h="438912">
                <a:tc>
                  <a:txBody>
                    <a:bodyPr/>
                    <a:lstStyle/>
                    <a:p>
                      <a:pPr algn="ctr"/>
                      <a:r>
                        <a:rPr sz="1200" b="0">
                          <a:solidFill>
                            <a:srgbClr val="F2F2F2"/>
                          </a:solidFill>
                          <a:latin typeface="Calibri"/>
                        </a:rPr>
                        <a:t>Behavior inference</a:t>
                      </a:r>
                    </a:p>
                  </a:txBody>
                  <a:tcPr marL="50000" marR="50000" marT="30000" marB="30000">
                    <a:solidFill>
                      <a:srgbClr val="1F2229"/>
                    </a:solidFill>
                  </a:tcPr>
                </a:tc>
                <a:tc>
                  <a:txBody>
                    <a:bodyPr/>
                    <a:lstStyle/>
                    <a:p>
                      <a:pPr algn="ctr"/>
                      <a:r>
                        <a:rPr sz="1200" b="0" dirty="0">
                          <a:solidFill>
                            <a:srgbClr val="F2F2F2"/>
                          </a:solidFill>
                          <a:latin typeface="Calibri"/>
                        </a:rPr>
                        <a:t>Heuristic</a:t>
                      </a:r>
                    </a:p>
                  </a:txBody>
                  <a:tcPr marL="50000" marR="50000" marT="30000" marB="30000">
                    <a:solidFill>
                      <a:srgbClr val="1F2229"/>
                    </a:solidFill>
                  </a:tcPr>
                </a:tc>
                <a:tc>
                  <a:txBody>
                    <a:bodyPr/>
                    <a:lstStyle/>
                    <a:p>
                      <a:pPr algn="ctr"/>
                      <a:r>
                        <a:rPr sz="1200" b="1">
                          <a:solidFill>
                            <a:srgbClr val="6AC87E"/>
                          </a:solidFill>
                          <a:latin typeface="Calibri"/>
                        </a:rPr>
                        <a:t>Learned per-bee classifier</a:t>
                      </a:r>
                    </a:p>
                  </a:txBody>
                  <a:tcPr marL="50000" marR="50000" marT="30000" marB="30000">
                    <a:solidFill>
                      <a:srgbClr val="1F2229"/>
                    </a:solidFill>
                  </a:tcPr>
                </a:tc>
                <a:extLst>
                  <a:ext uri="{0D108BD9-81ED-4DB2-BD59-A6C34878D82A}">
                    <a16:rowId xmlns:a16="http://schemas.microsoft.com/office/drawing/2014/main" val="10002"/>
                  </a:ext>
                </a:extLst>
              </a:tr>
              <a:tr h="438912">
                <a:tc>
                  <a:txBody>
                    <a:bodyPr/>
                    <a:lstStyle/>
                    <a:p>
                      <a:pPr algn="ctr"/>
                      <a:r>
                        <a:rPr sz="1200" b="0">
                          <a:solidFill>
                            <a:srgbClr val="F2F2F2"/>
                          </a:solidFill>
                          <a:latin typeface="Calibri"/>
                        </a:rPr>
                        <a:t>Individual-level attribution</a:t>
                      </a:r>
                    </a:p>
                  </a:txBody>
                  <a:tcPr marL="50000" marR="50000" marT="30000" marB="30000">
                    <a:solidFill>
                      <a:srgbClr val="1F2229"/>
                    </a:solidFill>
                  </a:tcPr>
                </a:tc>
                <a:tc>
                  <a:txBody>
                    <a:bodyPr/>
                    <a:lstStyle/>
                    <a:p>
                      <a:pPr algn="ctr"/>
                      <a:r>
                        <a:rPr sz="1200" b="0">
                          <a:solidFill>
                            <a:srgbClr val="F2F2F2"/>
                          </a:solidFill>
                          <a:latin typeface="Calibri"/>
                        </a:rPr>
                        <a:t>Partial / region-based</a:t>
                      </a:r>
                    </a:p>
                  </a:txBody>
                  <a:tcPr marL="50000" marR="50000" marT="30000" marB="30000">
                    <a:solidFill>
                      <a:srgbClr val="1F2229"/>
                    </a:solidFill>
                  </a:tcPr>
                </a:tc>
                <a:tc>
                  <a:txBody>
                    <a:bodyPr/>
                    <a:lstStyle/>
                    <a:p>
                      <a:pPr algn="ctr"/>
                      <a:r>
                        <a:rPr sz="1200" b="1">
                          <a:solidFill>
                            <a:srgbClr val="6AC87E"/>
                          </a:solidFill>
                          <a:latin typeface="Calibri"/>
                        </a:rPr>
                        <a:t>Yes (per tracked bee)</a:t>
                      </a:r>
                    </a:p>
                  </a:txBody>
                  <a:tcPr marL="50000" marR="50000" marT="30000" marB="30000">
                    <a:solidFill>
                      <a:srgbClr val="1F2229"/>
                    </a:solidFill>
                  </a:tcPr>
                </a:tc>
                <a:extLst>
                  <a:ext uri="{0D108BD9-81ED-4DB2-BD59-A6C34878D82A}">
                    <a16:rowId xmlns:a16="http://schemas.microsoft.com/office/drawing/2014/main" val="10003"/>
                  </a:ext>
                </a:extLst>
              </a:tr>
              <a:tr h="438912">
                <a:tc>
                  <a:txBody>
                    <a:bodyPr/>
                    <a:lstStyle/>
                    <a:p>
                      <a:pPr algn="ctr"/>
                      <a:r>
                        <a:rPr sz="1200" b="0">
                          <a:solidFill>
                            <a:srgbClr val="F2F2F2"/>
                          </a:solidFill>
                          <a:latin typeface="Calibri"/>
                        </a:rPr>
                        <a:t>Trophallaxis recognition</a:t>
                      </a:r>
                    </a:p>
                  </a:txBody>
                  <a:tcPr marL="50000" marR="50000" marT="30000" marB="30000">
                    <a:solidFill>
                      <a:srgbClr val="1F2229"/>
                    </a:solidFill>
                  </a:tcPr>
                </a:tc>
                <a:tc>
                  <a:txBody>
                    <a:bodyPr/>
                    <a:lstStyle/>
                    <a:p>
                      <a:pPr algn="ctr"/>
                      <a:r>
                        <a:rPr sz="1200" b="0">
                          <a:solidFill>
                            <a:srgbClr val="F2F2F2"/>
                          </a:solidFill>
                          <a:latin typeface="Calibri"/>
                        </a:rPr>
                        <a:t>Not addressed at individual level</a:t>
                      </a:r>
                    </a:p>
                  </a:txBody>
                  <a:tcPr marL="50000" marR="50000" marT="30000" marB="30000">
                    <a:solidFill>
                      <a:srgbClr val="1F2229"/>
                    </a:solidFill>
                  </a:tcPr>
                </a:tc>
                <a:tc>
                  <a:txBody>
                    <a:bodyPr/>
                    <a:lstStyle/>
                    <a:p>
                      <a:pPr algn="ctr"/>
                      <a:r>
                        <a:rPr sz="1200" b="1" dirty="0">
                          <a:solidFill>
                            <a:srgbClr val="6AC87E"/>
                          </a:solidFill>
                          <a:latin typeface="Calibri"/>
                        </a:rPr>
                        <a:t>F1 = 0.96</a:t>
                      </a:r>
                    </a:p>
                  </a:txBody>
                  <a:tcPr marL="50000" marR="50000" marT="30000" marB="30000">
                    <a:solidFill>
                      <a:srgbClr val="1F2229"/>
                    </a:solidFill>
                  </a:tcPr>
                </a:tc>
                <a:extLst>
                  <a:ext uri="{0D108BD9-81ED-4DB2-BD59-A6C34878D82A}">
                    <a16:rowId xmlns:a16="http://schemas.microsoft.com/office/drawing/2014/main" val="10004"/>
                  </a:ext>
                </a:extLst>
              </a:tr>
            </a:tbl>
          </a:graphicData>
        </a:graphic>
      </p:graphicFrame>
      <p:sp>
        <p:nvSpPr>
          <p:cNvPr id="7" name="TextBox 6"/>
          <p:cNvSpPr txBox="1"/>
          <p:nvPr/>
        </p:nvSpPr>
        <p:spPr>
          <a:xfrm>
            <a:off x="457200" y="3931920"/>
            <a:ext cx="5943600" cy="1437509"/>
          </a:xfrm>
          <a:prstGeom prst="rect">
            <a:avLst/>
          </a:prstGeom>
          <a:noFill/>
        </p:spPr>
        <p:txBody>
          <a:bodyPr wrap="square" lIns="0" tIns="0" rIns="0" bIns="0">
            <a:spAutoFit/>
          </a:bodyPr>
          <a:lstStyle/>
          <a:p>
            <a:pPr>
              <a:lnSpc>
                <a:spcPct val="150000"/>
              </a:lnSpc>
            </a:pPr>
            <a:r>
              <a:rPr lang="en-US" sz="1600" b="1" dirty="0">
                <a:solidFill>
                  <a:srgbClr val="F5A623"/>
                </a:solidFill>
              </a:rPr>
              <a:t>CONTRIBUTIONS</a:t>
            </a:r>
            <a:endParaRPr lang="en-US" sz="1600" b="1" dirty="0">
              <a:solidFill>
                <a:srgbClr val="F5A623"/>
              </a:solidFill>
              <a:latin typeface="Calibri"/>
            </a:endParaRPr>
          </a:p>
          <a:p>
            <a:pPr algn="l">
              <a:lnSpc>
                <a:spcPct val="150000"/>
              </a:lnSpc>
            </a:pPr>
            <a:r>
              <a:rPr sz="1600" b="1" dirty="0">
                <a:solidFill>
                  <a:srgbClr val="F5A623"/>
                </a:solidFill>
                <a:latin typeface="Calibri"/>
              </a:rPr>
              <a:t>▸ </a:t>
            </a:r>
            <a:r>
              <a:rPr sz="1600" dirty="0">
                <a:solidFill>
                  <a:srgbClr val="F2F2F2"/>
                </a:solidFill>
                <a:latin typeface="Calibri"/>
              </a:rPr>
              <a:t>First per-individual trophallaxis recognition in bee literature.</a:t>
            </a:r>
          </a:p>
          <a:p>
            <a:pPr algn="l">
              <a:lnSpc>
                <a:spcPct val="150000"/>
              </a:lnSpc>
            </a:pPr>
            <a:r>
              <a:rPr sz="1600" b="1" dirty="0">
                <a:solidFill>
                  <a:srgbClr val="F5A623"/>
                </a:solidFill>
                <a:latin typeface="Calibri"/>
              </a:rPr>
              <a:t>▸ </a:t>
            </a:r>
            <a:r>
              <a:rPr sz="1600" dirty="0">
                <a:solidFill>
                  <a:srgbClr val="F2F2F2"/>
                </a:solidFill>
                <a:latin typeface="Calibri"/>
              </a:rPr>
              <a:t>Replaced heuristic rules with learned classifier.</a:t>
            </a:r>
          </a:p>
          <a:p>
            <a:pPr algn="l">
              <a:lnSpc>
                <a:spcPct val="150000"/>
              </a:lnSpc>
            </a:pPr>
            <a:r>
              <a:rPr sz="1600" b="1" dirty="0">
                <a:solidFill>
                  <a:srgbClr val="F5A623"/>
                </a:solidFill>
                <a:latin typeface="Calibri"/>
              </a:rPr>
              <a:t>▸ </a:t>
            </a:r>
            <a:r>
              <a:rPr sz="1600" dirty="0">
                <a:solidFill>
                  <a:srgbClr val="F2F2F2"/>
                </a:solidFill>
                <a:latin typeface="Calibri"/>
              </a:rPr>
              <a:t>Multi-window sampling — made 76 trophallaxis sequences usable.</a:t>
            </a:r>
          </a:p>
        </p:txBody>
      </p:sp>
      <p:sp>
        <p:nvSpPr>
          <p:cNvPr id="9" name="TextBox 8"/>
          <p:cNvSpPr txBox="1"/>
          <p:nvPr/>
        </p:nvSpPr>
        <p:spPr>
          <a:xfrm>
            <a:off x="6400800" y="3931920"/>
            <a:ext cx="5486400" cy="1437509"/>
          </a:xfrm>
          <a:prstGeom prst="rect">
            <a:avLst/>
          </a:prstGeom>
          <a:noFill/>
        </p:spPr>
        <p:txBody>
          <a:bodyPr wrap="square" lIns="0" tIns="0" rIns="0" bIns="0">
            <a:spAutoFit/>
          </a:bodyPr>
          <a:lstStyle/>
          <a:p>
            <a:pPr>
              <a:lnSpc>
                <a:spcPct val="150000"/>
              </a:lnSpc>
            </a:pPr>
            <a:r>
              <a:rPr lang="en-US" sz="1600" b="1" dirty="0">
                <a:solidFill>
                  <a:srgbClr val="F5A623"/>
                </a:solidFill>
              </a:rPr>
              <a:t>LIMITATIONS &amp; FUTURE WORK</a:t>
            </a:r>
            <a:endParaRPr lang="en-US" sz="1600" b="1" dirty="0">
              <a:solidFill>
                <a:srgbClr val="F5A623"/>
              </a:solidFill>
              <a:latin typeface="Calibri"/>
            </a:endParaRPr>
          </a:p>
          <a:p>
            <a:pPr algn="l">
              <a:lnSpc>
                <a:spcPct val="150000"/>
              </a:lnSpc>
            </a:pPr>
            <a:r>
              <a:rPr sz="1600" b="1" dirty="0">
                <a:solidFill>
                  <a:srgbClr val="F5A623"/>
                </a:solidFill>
                <a:latin typeface="Calibri"/>
              </a:rPr>
              <a:t>▸ </a:t>
            </a:r>
            <a:r>
              <a:rPr sz="1600" dirty="0">
                <a:solidFill>
                  <a:srgbClr val="F2F2F2"/>
                </a:solidFill>
                <a:latin typeface="Calibri"/>
              </a:rPr>
              <a:t>Trained on one hive — cross-domain untested.</a:t>
            </a:r>
          </a:p>
          <a:p>
            <a:pPr algn="l">
              <a:lnSpc>
                <a:spcPct val="150000"/>
              </a:lnSpc>
            </a:pPr>
            <a:r>
              <a:rPr sz="1600" b="1" dirty="0">
                <a:solidFill>
                  <a:srgbClr val="F5A623"/>
                </a:solidFill>
                <a:latin typeface="Calibri"/>
              </a:rPr>
              <a:t>▸ </a:t>
            </a:r>
            <a:r>
              <a:rPr sz="1600" dirty="0">
                <a:solidFill>
                  <a:srgbClr val="F2F2F2"/>
                </a:solidFill>
                <a:latin typeface="Calibri"/>
              </a:rPr>
              <a:t>Tracker fragmentation = primary end-to-end bottleneck.</a:t>
            </a:r>
          </a:p>
          <a:p>
            <a:pPr algn="l">
              <a:lnSpc>
                <a:spcPct val="150000"/>
              </a:lnSpc>
            </a:pPr>
            <a:r>
              <a:rPr sz="1600" b="1" dirty="0">
                <a:solidFill>
                  <a:srgbClr val="F5A623"/>
                </a:solidFill>
                <a:latin typeface="Calibri"/>
              </a:rPr>
              <a:t>▸ </a:t>
            </a:r>
            <a:r>
              <a:rPr sz="1600" dirty="0">
                <a:solidFill>
                  <a:srgbClr val="F2F2F2"/>
                </a:solidFill>
                <a:latin typeface="Calibri"/>
              </a:rPr>
              <a:t>True consecutive-video evaluation still to run.</a:t>
            </a:r>
          </a:p>
        </p:txBody>
      </p:sp>
      <p:sp>
        <p:nvSpPr>
          <p:cNvPr id="10" name="TextBox 9"/>
          <p:cNvSpPr txBox="1"/>
          <p:nvPr/>
        </p:nvSpPr>
        <p:spPr>
          <a:xfrm>
            <a:off x="457200" y="6446520"/>
            <a:ext cx="7315200" cy="274320"/>
          </a:xfrm>
          <a:prstGeom prst="rect">
            <a:avLst/>
          </a:prstGeom>
          <a:noFill/>
        </p:spPr>
        <p:txBody>
          <a:bodyPr wrap="square" lIns="0" tIns="0" rIns="0" bIns="0" anchor="t">
            <a:spAutoFit/>
          </a:bodyPr>
          <a:lstStyle/>
          <a:p>
            <a:pPr algn="l"/>
            <a:r>
              <a:rPr sz="1000" b="0" i="0">
                <a:solidFill>
                  <a:srgbClr val="6F737C"/>
                </a:solidFill>
                <a:latin typeface="Calibri"/>
              </a:rPr>
              <a:t>Bee Behavior Recognition — Master's Thesis Defense</a:t>
            </a:r>
          </a:p>
        </p:txBody>
      </p:sp>
      <p:sp>
        <p:nvSpPr>
          <p:cNvPr id="11" name="TextBox 10"/>
          <p:cNvSpPr txBox="1"/>
          <p:nvPr/>
        </p:nvSpPr>
        <p:spPr>
          <a:xfrm>
            <a:off x="10789920" y="6446520"/>
            <a:ext cx="914400" cy="153888"/>
          </a:xfrm>
          <a:prstGeom prst="rect">
            <a:avLst/>
          </a:prstGeom>
          <a:noFill/>
        </p:spPr>
        <p:txBody>
          <a:bodyPr wrap="square" lIns="0" tIns="0" rIns="0" bIns="0" anchor="t">
            <a:spAutoFit/>
          </a:bodyPr>
          <a:lstStyle/>
          <a:p>
            <a:pPr algn="r"/>
            <a:r>
              <a:rPr sz="1000" b="0" i="0" dirty="0">
                <a:solidFill>
                  <a:srgbClr val="6F737C"/>
                </a:solidFill>
                <a:latin typeface="Calibri"/>
              </a:rPr>
              <a:t>1</a:t>
            </a:r>
            <a:r>
              <a:rPr lang="en-US" sz="1000" b="0" i="0" dirty="0">
                <a:solidFill>
                  <a:srgbClr val="6F737C"/>
                </a:solidFill>
                <a:latin typeface="Calibri"/>
              </a:rPr>
              <a:t>2</a:t>
            </a:r>
            <a:r>
              <a:rPr sz="1000" b="0" i="0" dirty="0">
                <a:solidFill>
                  <a:srgbClr val="6F737C"/>
                </a:solidFill>
                <a:latin typeface="Calibri"/>
              </a:rPr>
              <a:t> / 1</a:t>
            </a:r>
            <a:r>
              <a:rPr lang="en-US" sz="1000" b="0" i="0" dirty="0">
                <a:solidFill>
                  <a:srgbClr val="6F737C"/>
                </a:solidFill>
                <a:latin typeface="Calibri"/>
              </a:rPr>
              <a:t>3</a:t>
            </a:r>
            <a:endParaRPr sz="1000" b="0" i="0" dirty="0">
              <a:solidFill>
                <a:srgbClr val="6F737C"/>
              </a:solidFill>
              <a:latin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416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365760" cy="685800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14400" y="2194560"/>
            <a:ext cx="10972800" cy="1097280"/>
          </a:xfrm>
          <a:prstGeom prst="rect">
            <a:avLst/>
          </a:prstGeom>
          <a:noFill/>
        </p:spPr>
        <p:txBody>
          <a:bodyPr wrap="square" lIns="0" tIns="0" rIns="0" bIns="0" anchor="t">
            <a:spAutoFit/>
          </a:bodyPr>
          <a:lstStyle/>
          <a:p>
            <a:pPr algn="l"/>
            <a:r>
              <a:rPr sz="7200" b="1" i="0">
                <a:solidFill>
                  <a:srgbClr val="F5A623"/>
                </a:solidFill>
                <a:latin typeface="Calibri"/>
              </a:rPr>
              <a:t>THANK YOU</a:t>
            </a:r>
          </a:p>
        </p:txBody>
      </p:sp>
      <p:sp>
        <p:nvSpPr>
          <p:cNvPr id="5" name="Rectangle 4"/>
          <p:cNvSpPr/>
          <p:nvPr/>
        </p:nvSpPr>
        <p:spPr>
          <a:xfrm>
            <a:off x="914400" y="3657600"/>
            <a:ext cx="1828800" cy="36576"/>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3931920"/>
            <a:ext cx="10972800" cy="731520"/>
          </a:xfrm>
          <a:prstGeom prst="rect">
            <a:avLst/>
          </a:prstGeom>
          <a:noFill/>
        </p:spPr>
        <p:txBody>
          <a:bodyPr wrap="square" lIns="0" tIns="0" rIns="0" bIns="0" anchor="t">
            <a:spAutoFit/>
          </a:bodyPr>
          <a:lstStyle/>
          <a:p>
            <a:pPr algn="l"/>
            <a:r>
              <a:rPr sz="3200" b="1" i="0">
                <a:solidFill>
                  <a:srgbClr val="F2F2F2"/>
                </a:solidFill>
                <a:latin typeface="Calibri"/>
              </a:rPr>
              <a:t>Questions?</a:t>
            </a:r>
          </a:p>
        </p:txBody>
      </p:sp>
      <p:sp>
        <p:nvSpPr>
          <p:cNvPr id="7" name="TextBox 6"/>
          <p:cNvSpPr txBox="1"/>
          <p:nvPr/>
        </p:nvSpPr>
        <p:spPr>
          <a:xfrm>
            <a:off x="914400" y="5120640"/>
            <a:ext cx="10972800" cy="365760"/>
          </a:xfrm>
          <a:prstGeom prst="rect">
            <a:avLst/>
          </a:prstGeom>
          <a:noFill/>
        </p:spPr>
        <p:txBody>
          <a:bodyPr wrap="square" lIns="0" tIns="0" rIns="0" bIns="0" anchor="t">
            <a:spAutoFit/>
          </a:bodyPr>
          <a:lstStyle/>
          <a:p>
            <a:pPr algn="l"/>
            <a:r>
              <a:rPr sz="1400" b="0" i="1">
                <a:solidFill>
                  <a:srgbClr val="A8ABB3"/>
                </a:solidFill>
                <a:latin typeface="Calibri"/>
              </a:rPr>
              <a:t>Detection mAP@0.5 = 0.992   ·   Macro F1 = 0.96   ·   E2E trophallaxis 92.6%</a:t>
            </a:r>
          </a:p>
        </p:txBody>
      </p:sp>
      <p:sp>
        <p:nvSpPr>
          <p:cNvPr id="8" name="TextBox 7">
            <a:extLst>
              <a:ext uri="{FF2B5EF4-FFF2-40B4-BE49-F238E27FC236}">
                <a16:creationId xmlns:a16="http://schemas.microsoft.com/office/drawing/2014/main" id="{71924569-7729-C90D-DDDB-12FFC9F4E5CE}"/>
              </a:ext>
            </a:extLst>
          </p:cNvPr>
          <p:cNvSpPr txBox="1"/>
          <p:nvPr/>
        </p:nvSpPr>
        <p:spPr>
          <a:xfrm>
            <a:off x="10789920" y="6446520"/>
            <a:ext cx="914400" cy="153888"/>
          </a:xfrm>
          <a:prstGeom prst="rect">
            <a:avLst/>
          </a:prstGeom>
          <a:noFill/>
        </p:spPr>
        <p:txBody>
          <a:bodyPr wrap="square" lIns="0" tIns="0" rIns="0" bIns="0" anchor="t">
            <a:spAutoFit/>
          </a:bodyPr>
          <a:lstStyle/>
          <a:p>
            <a:pPr algn="r"/>
            <a:r>
              <a:rPr sz="1000" b="0" i="0" dirty="0">
                <a:solidFill>
                  <a:srgbClr val="6F737C"/>
                </a:solidFill>
                <a:latin typeface="Calibri"/>
              </a:rPr>
              <a:t>1</a:t>
            </a:r>
            <a:r>
              <a:rPr lang="en-US" sz="1000" dirty="0">
                <a:solidFill>
                  <a:srgbClr val="6F737C"/>
                </a:solidFill>
                <a:latin typeface="Calibri"/>
              </a:rPr>
              <a:t>3</a:t>
            </a:r>
            <a:r>
              <a:rPr sz="1000" b="0" i="0" dirty="0">
                <a:solidFill>
                  <a:srgbClr val="6F737C"/>
                </a:solidFill>
                <a:latin typeface="Calibri"/>
              </a:rPr>
              <a:t> / 1</a:t>
            </a:r>
            <a:r>
              <a:rPr lang="en-US" sz="1000" b="0" i="0" dirty="0">
                <a:solidFill>
                  <a:srgbClr val="6F737C"/>
                </a:solidFill>
                <a:latin typeface="Calibri"/>
              </a:rPr>
              <a:t>3</a:t>
            </a:r>
            <a:endParaRPr sz="1000" b="0" i="0" dirty="0">
              <a:solidFill>
                <a:srgbClr val="6F737C"/>
              </a:solidFill>
              <a:latin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1134</TotalTime>
  <Words>968</Words>
  <Application>Microsoft Office PowerPoint</Application>
  <PresentationFormat>Widescreen</PresentationFormat>
  <Paragraphs>188</Paragraphs>
  <Slides>13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Ozan Berk Gultegin</cp:lastModifiedBy>
  <cp:revision>77</cp:revision>
  <dcterms:created xsi:type="dcterms:W3CDTF">2013-01-27T09:14:16Z</dcterms:created>
  <dcterms:modified xsi:type="dcterms:W3CDTF">2026-05-25T08:49:17Z</dcterms:modified>
  <cp:category/>
</cp:coreProperties>
</file>